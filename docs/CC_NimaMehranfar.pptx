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6" r:id="rId3"/>
    <p:sldId id="257" r:id="rId4"/>
    <p:sldId id="258" r:id="rId5"/>
    <p:sldId id="271" r:id="rId6"/>
    <p:sldId id="260" r:id="rId7"/>
    <p:sldId id="268" r:id="rId8"/>
    <p:sldId id="278" r:id="rId9"/>
    <p:sldId id="280"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a Mehranfar" initials="NM" lastIdx="1" clrIdx="0">
    <p:extLst>
      <p:ext uri="{19B8F6BF-5375-455C-9EA6-DF929625EA0E}">
        <p15:presenceInfo xmlns:p15="http://schemas.microsoft.com/office/powerpoint/2012/main" userId="ee937104d5336e8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7E5D8"/>
    <a:srgbClr val="9CD52C"/>
    <a:srgbClr val="88A4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3273" autoAdjust="0"/>
  </p:normalViewPr>
  <p:slideViewPr>
    <p:cSldViewPr>
      <p:cViewPr varScale="1">
        <p:scale>
          <a:sx n="44" d="100"/>
          <a:sy n="44" d="100"/>
        </p:scale>
        <p:origin x="1215"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D89422-C562-447A-BAC5-8BAA4D0CDE0A}"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0C96AE-507B-4F8C-85F4-B23BBFB543BC}" type="slidenum">
              <a:rPr lang="en-US" smtClean="0"/>
              <a:t>‹#›</a:t>
            </a:fld>
            <a:endParaRPr lang="en-US"/>
          </a:p>
        </p:txBody>
      </p:sp>
    </p:spTree>
    <p:extLst>
      <p:ext uri="{BB962C8B-B14F-4D97-AF65-F5344CB8AC3E}">
        <p14:creationId xmlns:p14="http://schemas.microsoft.com/office/powerpoint/2010/main" val="1867929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t>Good morning, everyone! My name is Nima, and today I'll be presenting on "</a:t>
            </a:r>
            <a:r>
              <a:rPr lang="en-GB" sz="2800" b="1" spc="-30" dirty="0">
                <a:solidFill>
                  <a:srgbClr val="9CD52C"/>
                </a:solidFill>
                <a:latin typeface="IBM Plex Sans Bold"/>
                <a:ea typeface="IBM Plex Sans Bold"/>
                <a:cs typeface="IBM Plex Sans Bold"/>
                <a:sym typeface="IBM Plex Sans Bold"/>
              </a:rPr>
              <a:t>DEMS</a:t>
            </a:r>
            <a:r>
              <a:rPr lang="en-GB" sz="2800" dirty="0"/>
              <a:t>“. </a:t>
            </a:r>
            <a:r>
              <a:rPr lang="en-GB" dirty="0"/>
              <a:t>This project</a:t>
            </a:r>
            <a:r>
              <a:rPr lang="en-GB" sz="1200" b="1" spc="-17" dirty="0">
                <a:solidFill>
                  <a:srgbClr val="D7E5D8"/>
                </a:solidFill>
                <a:latin typeface="IBM Plex Sans Bold"/>
                <a:ea typeface="IBM Plex Sans Bold"/>
                <a:cs typeface="IBM Plex Sans Bold"/>
                <a:sym typeface="IBM Plex Sans Bold"/>
              </a:rPr>
              <a:t> is a full-stack cloud application built entirely on Microsoft Azure services.</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1</a:t>
            </a:fld>
            <a:endParaRPr lang="en-US"/>
          </a:p>
        </p:txBody>
      </p:sp>
    </p:spTree>
    <p:extLst>
      <p:ext uri="{BB962C8B-B14F-4D97-AF65-F5344CB8AC3E}">
        <p14:creationId xmlns:p14="http://schemas.microsoft.com/office/powerpoint/2010/main" val="1910268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800" dirty="0"/>
              <a:t>Here's a quick look at the agenda. </a:t>
            </a:r>
            <a:r>
              <a:rPr lang="en-GB" sz="4000" dirty="0"/>
              <a:t>I’ll briefly cover the goal ,</a:t>
            </a:r>
            <a:r>
              <a:rPr lang="en-US" sz="4000" b="1" spc="29" dirty="0">
                <a:solidFill>
                  <a:srgbClr val="88A450"/>
                </a:solidFill>
                <a:latin typeface="IBM Plex Sans Bold"/>
                <a:ea typeface="IBM Plex Sans Bold"/>
                <a:cs typeface="IBM Plex Sans Bold"/>
                <a:sym typeface="IBM Plex Sans Bold"/>
              </a:rPr>
              <a:t> System Architecture,</a:t>
            </a:r>
            <a:r>
              <a:rPr lang="en-GB" sz="4000" dirty="0"/>
              <a:t> deep dive to important services , the end-to-end order workflow, and then show a live demo.</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2</a:t>
            </a:fld>
            <a:endParaRPr lang="en-US"/>
          </a:p>
        </p:txBody>
      </p:sp>
    </p:spTree>
    <p:extLst>
      <p:ext uri="{BB962C8B-B14F-4D97-AF65-F5344CB8AC3E}">
        <p14:creationId xmlns:p14="http://schemas.microsoft.com/office/powerpoint/2010/main" val="1124755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4000" dirty="0"/>
              <a:t>So what problem we are trying to solve?</a:t>
            </a:r>
            <a:br>
              <a:rPr lang="en-GB" sz="4000" dirty="0"/>
            </a:br>
            <a:r>
              <a:rPr lang="en-GB" sz="4000" dirty="0"/>
              <a:t>The </a:t>
            </a:r>
            <a:r>
              <a:rPr lang="en-GB" sz="4000" b="1" i="0" dirty="0">
                <a:solidFill>
                  <a:srgbClr val="E6E8F0"/>
                </a:solidFill>
                <a:effectLst/>
                <a:latin typeface="Google Sans"/>
              </a:rPr>
              <a:t>sheer volume</a:t>
            </a:r>
            <a:r>
              <a:rPr lang="en-GB" sz="4000" b="0" i="0" dirty="0">
                <a:solidFill>
                  <a:srgbClr val="E6E8F0"/>
                </a:solidFill>
                <a:effectLst/>
                <a:latin typeface="Google Sans"/>
              </a:rPr>
              <a:t> and </a:t>
            </a:r>
            <a:r>
              <a:rPr lang="en-GB" sz="4000" b="1" i="0" dirty="0">
                <a:solidFill>
                  <a:srgbClr val="E6E8F0"/>
                </a:solidFill>
                <a:effectLst/>
                <a:latin typeface="Google Sans"/>
              </a:rPr>
              <a:t>size</a:t>
            </a:r>
            <a:r>
              <a:rPr lang="en-GB" sz="4000" b="0" i="0" dirty="0">
                <a:solidFill>
                  <a:srgbClr val="E6E8F0"/>
                </a:solidFill>
                <a:effectLst/>
                <a:latin typeface="Google Sans"/>
              </a:rPr>
              <a:t> of evidences in criminal cases can makes manual search </a:t>
            </a:r>
            <a:r>
              <a:rPr lang="en-GB" sz="5400" b="1" i="0" dirty="0">
                <a:solidFill>
                  <a:srgbClr val="E6E8F0"/>
                </a:solidFill>
                <a:effectLst/>
                <a:latin typeface="Google Sans"/>
              </a:rPr>
              <a:t>practically impossible</a:t>
            </a:r>
            <a:r>
              <a:rPr lang="en-GB" sz="5400" b="0" i="0" dirty="0">
                <a:solidFill>
                  <a:srgbClr val="E6E8F0"/>
                </a:solidFill>
                <a:effectLst/>
                <a:latin typeface="Google Sans"/>
              </a:rPr>
              <a:t> without specialized software</a:t>
            </a:r>
            <a:br>
              <a:rPr lang="en-GB" sz="5400" dirty="0"/>
            </a:br>
            <a:r>
              <a:rPr lang="en-GB" sz="2800" dirty="0"/>
              <a:t>A detective being able to search for the word "knife" across all evidences while some evidences maybe is a 40-minute audio interview or </a:t>
            </a:r>
            <a:r>
              <a:rPr lang="en-US" sz="4000" b="0" i="0" dirty="0">
                <a:solidFill>
                  <a:srgbClr val="E8E8E8"/>
                </a:solidFill>
                <a:effectLst/>
                <a:latin typeface="Google Sans"/>
              </a:rPr>
              <a:t>interrogation</a:t>
            </a:r>
            <a:r>
              <a:rPr lang="en-GB" sz="2800" dirty="0"/>
              <a:t> is a good example for that..</a:t>
            </a:r>
            <a:br>
              <a:rPr lang="en-GB" sz="2800" dirty="0"/>
            </a:br>
            <a:endParaRPr lang="en-US" sz="2800" dirty="0"/>
          </a:p>
          <a:p>
            <a:r>
              <a:rPr lang="en-GB" sz="2800" dirty="0"/>
              <a:t>The goal is to use cloud platform without any </a:t>
            </a:r>
            <a:r>
              <a:rPr lang="en-US" sz="4000" dirty="0"/>
              <a:t>upfront investment </a:t>
            </a:r>
            <a:r>
              <a:rPr lang="en-GB" sz="2800" dirty="0"/>
              <a:t>and automate information extraction process of collected evidence.</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3</a:t>
            </a:fld>
            <a:endParaRPr lang="en-US"/>
          </a:p>
        </p:txBody>
      </p:sp>
    </p:spTree>
    <p:extLst>
      <p:ext uri="{BB962C8B-B14F-4D97-AF65-F5344CB8AC3E}">
        <p14:creationId xmlns:p14="http://schemas.microsoft.com/office/powerpoint/2010/main" val="743583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application uses some cloud services that you can see. So couple of important notes that I have to mention is</a:t>
            </a:r>
            <a:br>
              <a:rPr lang="en-GB" dirty="0"/>
            </a:br>
            <a:br>
              <a:rPr lang="en-GB" dirty="0"/>
            </a:br>
            <a:r>
              <a:rPr lang="en-GB" dirty="0"/>
              <a:t>browser uploads files DIRECTLY to Blob Storage using a SAS(</a:t>
            </a:r>
            <a:r>
              <a:rPr lang="en-US" b="0" i="0" dirty="0">
                <a:solidFill>
                  <a:srgbClr val="EEF0FF"/>
                </a:solidFill>
                <a:effectLst/>
                <a:latin typeface="Google Sans"/>
              </a:rPr>
              <a:t>Shared Access Signature</a:t>
            </a:r>
            <a:r>
              <a:rPr lang="en-GB" dirty="0"/>
              <a:t>)  URL — the backend never touches the file bytes.</a:t>
            </a:r>
            <a:br>
              <a:rPr lang="en-GB" dirty="0"/>
            </a:br>
            <a:br>
              <a:rPr lang="en-GB" dirty="0"/>
            </a:br>
            <a:r>
              <a:rPr lang="en-GB" dirty="0"/>
              <a:t>key Vault + Managed Identity means there are zero plaintext credentials and secrets exposed anywhere.</a:t>
            </a:r>
            <a:br>
              <a:rPr lang="en-GB" dirty="0"/>
            </a:br>
            <a:br>
              <a:rPr lang="en-GB" dirty="0"/>
            </a:br>
            <a:r>
              <a:rPr lang="en-GB" dirty="0"/>
              <a:t>I Wanted to deploy object detection in computer vision service but it required custom model and increased complexity so I just have </a:t>
            </a:r>
            <a:r>
              <a:rPr lang="en-GB" dirty="0" err="1"/>
              <a:t>ocr</a:t>
            </a:r>
            <a:r>
              <a:rPr lang="en-GB" dirty="0"/>
              <a:t> from computer vision service.</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4</a:t>
            </a:fld>
            <a:endParaRPr lang="en-US"/>
          </a:p>
        </p:txBody>
      </p:sp>
    </p:spTree>
    <p:extLst>
      <p:ext uri="{BB962C8B-B14F-4D97-AF65-F5344CB8AC3E}">
        <p14:creationId xmlns:p14="http://schemas.microsoft.com/office/powerpoint/2010/main" val="4023898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auth and access control, basically Azure </a:t>
            </a:r>
            <a:r>
              <a:rPr lang="en-GB" dirty="0" err="1"/>
              <a:t>entra</a:t>
            </a:r>
            <a:r>
              <a:rPr lang="en-GB" dirty="0"/>
              <a:t> id handles everything about sign in sign out and website just receives the user access token.</a:t>
            </a:r>
            <a:br>
              <a:rPr lang="en-GB" dirty="0"/>
            </a:br>
            <a:r>
              <a:rPr lang="en-GB" dirty="0"/>
              <a:t>APIM service AND Functions validate JWT independently and also fronted manages role based access to components and routes and functionalities.</a:t>
            </a:r>
            <a:br>
              <a:rPr lang="en-GB" dirty="0"/>
            </a:br>
            <a:br>
              <a:rPr lang="en-GB" dirty="0"/>
            </a:br>
            <a:r>
              <a:rPr lang="en-GB" dirty="0"/>
              <a:t>We have 3 roles for now.</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5</a:t>
            </a:fld>
            <a:endParaRPr lang="en-US"/>
          </a:p>
        </p:txBody>
      </p:sp>
    </p:spTree>
    <p:extLst>
      <p:ext uri="{BB962C8B-B14F-4D97-AF65-F5344CB8AC3E}">
        <p14:creationId xmlns:p14="http://schemas.microsoft.com/office/powerpoint/2010/main" val="1012260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Step 1: upload-initializes  → returns SAS URL and </a:t>
            </a:r>
            <a:r>
              <a:rPr lang="en-GB" dirty="0" err="1"/>
              <a:t>evidenceId</a:t>
            </a:r>
            <a:br>
              <a:rPr lang="en-GB" dirty="0"/>
            </a:br>
            <a:br>
              <a:rPr lang="en-GB" dirty="0"/>
            </a:br>
            <a:r>
              <a:rPr lang="en-GB" dirty="0"/>
              <a:t>Step 2: browser uploads directly to Blob Storage (PUT SAS(</a:t>
            </a:r>
            <a:r>
              <a:rPr lang="en-US" b="0" i="0" dirty="0">
                <a:solidFill>
                  <a:srgbClr val="EEF0FF"/>
                </a:solidFill>
                <a:effectLst/>
                <a:latin typeface="Google Sans"/>
              </a:rPr>
              <a:t>Shared Access Signature</a:t>
            </a:r>
            <a:r>
              <a:rPr lang="en-GB" dirty="0"/>
              <a:t>) URL)</a:t>
            </a:r>
            <a:br>
              <a:rPr lang="en-GB" dirty="0"/>
            </a:br>
            <a:br>
              <a:rPr lang="en-GB" dirty="0"/>
            </a:br>
            <a:r>
              <a:rPr lang="en-GB" dirty="0"/>
              <a:t>Step 3: upload-confirm → metadata stored (description, tags)</a:t>
            </a:r>
            <a:br>
              <a:rPr lang="en-GB" dirty="0"/>
            </a:br>
            <a:br>
              <a:rPr lang="en-GB" dirty="0"/>
            </a:br>
            <a:r>
              <a:rPr lang="en-GB" dirty="0"/>
              <a:t>Step 4: status endpoint used for polling (processing progress)</a:t>
            </a:r>
            <a:br>
              <a:rPr lang="en-GB" dirty="0"/>
            </a:br>
            <a:br>
              <a:rPr lang="en-GB" dirty="0"/>
            </a:br>
            <a:r>
              <a:rPr lang="en-GB" dirty="0"/>
              <a:t>what happens in the backend: file lands on blob storage and triggers a function which processes the files based on it’s type and saves extracted data on cosmos db. Then we search it.</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6</a:t>
            </a:fld>
            <a:endParaRPr lang="en-US"/>
          </a:p>
        </p:txBody>
      </p:sp>
    </p:spTree>
    <p:extLst>
      <p:ext uri="{BB962C8B-B14F-4D97-AF65-F5344CB8AC3E}">
        <p14:creationId xmlns:p14="http://schemas.microsoft.com/office/powerpoint/2010/main" val="651321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Search is </a:t>
            </a:r>
            <a:r>
              <a:rPr lang="en-GB" b="1" dirty="0"/>
              <a:t>cross-case and cross-department by default</a:t>
            </a:r>
            <a:r>
              <a:rPr lang="en-GB" dirty="0"/>
              <a:t>, meaning investigators are not limited to one case folder view. The Azure AI Search index contains extracted text from OCR and audio transcription, so queries match not only file names but actual spoken words and document content.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0C96AE-507B-4F8C-85F4-B23BBFB543B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5195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Both frontend and backend deploy automatically on push to main, with GitHub Actions building and securely deploying to Azure in minutes. </a:t>
            </a:r>
            <a:br>
              <a:rPr lang="en-GB" dirty="0"/>
            </a:br>
            <a:br>
              <a:rPr lang="en-GB" dirty="0"/>
            </a:br>
            <a:r>
              <a:rPr lang="en-GB" dirty="0"/>
              <a:t>No secrets in code, and runtime secrets resolved from Key Vault via Managed Identity.</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8</a:t>
            </a:fld>
            <a:endParaRPr lang="en-US"/>
          </a:p>
        </p:txBody>
      </p:sp>
    </p:spTree>
    <p:extLst>
      <p:ext uri="{BB962C8B-B14F-4D97-AF65-F5344CB8AC3E}">
        <p14:creationId xmlns:p14="http://schemas.microsoft.com/office/powerpoint/2010/main" val="3003599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for your attention. any questions?</a:t>
            </a:r>
            <a:endParaRPr lang="en-US" dirty="0"/>
          </a:p>
        </p:txBody>
      </p:sp>
      <p:sp>
        <p:nvSpPr>
          <p:cNvPr id="4" name="Slide Number Placeholder 3"/>
          <p:cNvSpPr>
            <a:spLocks noGrp="1"/>
          </p:cNvSpPr>
          <p:nvPr>
            <p:ph type="sldNum" sz="quarter" idx="5"/>
          </p:nvPr>
        </p:nvSpPr>
        <p:spPr/>
        <p:txBody>
          <a:bodyPr/>
          <a:lstStyle/>
          <a:p>
            <a:fld id="{7E0C96AE-507B-4F8C-85F4-B23BBFB543BC}" type="slidenum">
              <a:rPr lang="en-US" smtClean="0"/>
              <a:t>9</a:t>
            </a:fld>
            <a:endParaRPr lang="en-US"/>
          </a:p>
        </p:txBody>
      </p:sp>
    </p:spTree>
    <p:extLst>
      <p:ext uri="{BB962C8B-B14F-4D97-AF65-F5344CB8AC3E}">
        <p14:creationId xmlns:p14="http://schemas.microsoft.com/office/powerpoint/2010/main" val="3399695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flipV="1">
            <a:off x="17278350" y="0"/>
            <a:ext cx="0" cy="6492240"/>
          </a:xfrm>
          <a:prstGeom prst="line">
            <a:avLst/>
          </a:prstGeom>
          <a:ln w="19050" cap="flat">
            <a:solidFill>
              <a:srgbClr val="FFFFFF"/>
            </a:solidFill>
            <a:prstDash val="solid"/>
            <a:headEnd type="none" w="sm" len="sm"/>
            <a:tailEnd type="none" w="sm" len="sm"/>
          </a:ln>
        </p:spPr>
      </p:sp>
      <p:sp>
        <p:nvSpPr>
          <p:cNvPr id="3" name="AutoShape 3"/>
          <p:cNvSpPr/>
          <p:nvPr/>
        </p:nvSpPr>
        <p:spPr>
          <a:xfrm flipV="1">
            <a:off x="17278350" y="7124700"/>
            <a:ext cx="0" cy="960120"/>
          </a:xfrm>
          <a:prstGeom prst="line">
            <a:avLst/>
          </a:prstGeom>
          <a:ln w="19050" cap="flat">
            <a:solidFill>
              <a:srgbClr val="FFFFFF"/>
            </a:solidFill>
            <a:prstDash val="solid"/>
            <a:headEnd type="none" w="sm" len="sm"/>
            <a:tailEnd type="none" w="sm" len="sm"/>
          </a:ln>
        </p:spPr>
      </p:sp>
      <p:sp>
        <p:nvSpPr>
          <p:cNvPr id="5" name="Freeform 5"/>
          <p:cNvSpPr/>
          <p:nvPr/>
        </p:nvSpPr>
        <p:spPr>
          <a:xfrm>
            <a:off x="15803336" y="-1158616"/>
            <a:ext cx="3477986" cy="3477986"/>
          </a:xfrm>
          <a:custGeom>
            <a:avLst/>
            <a:gdLst/>
            <a:ahLst/>
            <a:cxnLst/>
            <a:rect l="l" t="t" r="r" b="b"/>
            <a:pathLst>
              <a:path w="3477986" h="3477986">
                <a:moveTo>
                  <a:pt x="0" y="0"/>
                </a:moveTo>
                <a:lnTo>
                  <a:pt x="3477986" y="0"/>
                </a:lnTo>
                <a:lnTo>
                  <a:pt x="3477986" y="3477986"/>
                </a:lnTo>
                <a:lnTo>
                  <a:pt x="0" y="34779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7531389" y="7604760"/>
            <a:ext cx="2737757" cy="2737757"/>
          </a:xfrm>
          <a:custGeom>
            <a:avLst/>
            <a:gdLst/>
            <a:ahLst/>
            <a:cxnLst/>
            <a:rect l="l" t="t" r="r" b="b"/>
            <a:pathLst>
              <a:path w="2737757" h="2737757">
                <a:moveTo>
                  <a:pt x="0" y="0"/>
                </a:moveTo>
                <a:lnTo>
                  <a:pt x="2737758" y="0"/>
                </a:lnTo>
                <a:lnTo>
                  <a:pt x="2737758" y="2737757"/>
                </a:lnTo>
                <a:lnTo>
                  <a:pt x="0" y="27377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907431" y="1062468"/>
            <a:ext cx="6645729" cy="3369256"/>
          </a:xfrm>
          <a:prstGeom prst="rect">
            <a:avLst/>
          </a:prstGeom>
        </p:spPr>
        <p:txBody>
          <a:bodyPr wrap="square" lIns="0" tIns="0" rIns="0" bIns="0" rtlCol="0" anchor="t">
            <a:spAutoFit/>
          </a:bodyPr>
          <a:lstStyle/>
          <a:p>
            <a:pPr algn="ctr">
              <a:lnSpc>
                <a:spcPts val="9000"/>
              </a:lnSpc>
            </a:pPr>
            <a:r>
              <a:rPr lang="en-GB" sz="4000" b="1" spc="-30" dirty="0">
                <a:solidFill>
                  <a:srgbClr val="9CD52C"/>
                </a:solidFill>
                <a:latin typeface="IBM Plex Sans Bold"/>
                <a:ea typeface="IBM Plex Sans Bold"/>
                <a:cs typeface="IBM Plex Sans Bold"/>
                <a:sym typeface="IBM Plex Sans Bold"/>
              </a:rPr>
              <a:t>Digital Evidence Management System</a:t>
            </a:r>
            <a:br>
              <a:rPr lang="en-GB" sz="4000" b="1" spc="-30" dirty="0">
                <a:solidFill>
                  <a:srgbClr val="9CD52C"/>
                </a:solidFill>
                <a:latin typeface="IBM Plex Sans Bold"/>
                <a:ea typeface="IBM Plex Sans Bold"/>
                <a:cs typeface="IBM Plex Sans Bold"/>
                <a:sym typeface="IBM Plex Sans Bold"/>
              </a:rPr>
            </a:br>
            <a:r>
              <a:rPr lang="en-GB" sz="4000" b="1" spc="-30" dirty="0">
                <a:solidFill>
                  <a:srgbClr val="9CD52C"/>
                </a:solidFill>
                <a:latin typeface="IBM Plex Sans Bold"/>
                <a:ea typeface="IBM Plex Sans Bold"/>
                <a:cs typeface="IBM Plex Sans Bold"/>
                <a:sym typeface="IBM Plex Sans Bold"/>
              </a:rPr>
              <a:t>(DEMS)</a:t>
            </a:r>
            <a:endParaRPr lang="en-US" sz="4000" b="1" spc="-30" dirty="0">
              <a:solidFill>
                <a:schemeClr val="bg1"/>
              </a:solidFill>
              <a:latin typeface="IBM Plex Sans Bold"/>
              <a:ea typeface="IBM Plex Sans Bold"/>
              <a:cs typeface="IBM Plex Sans Bold"/>
              <a:sym typeface="IBM Plex Sans Bold"/>
            </a:endParaRPr>
          </a:p>
        </p:txBody>
      </p:sp>
      <p:sp>
        <p:nvSpPr>
          <p:cNvPr id="10" name="Rectangle 1">
            <a:extLst>
              <a:ext uri="{FF2B5EF4-FFF2-40B4-BE49-F238E27FC236}">
                <a16:creationId xmlns:a16="http://schemas.microsoft.com/office/drawing/2014/main" id="{48F0A122-2A3C-4364-B6BF-8F31D085880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 , , ,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D46DB47B-1AAF-44E2-B02A-C68E3F807D76}"/>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 , , ,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895644BB-66A0-4815-A22C-4E6DE5B0121E}"/>
              </a:ext>
            </a:extLst>
          </p:cNvPr>
          <p:cNvSpPr txBox="1"/>
          <p:nvPr/>
        </p:nvSpPr>
        <p:spPr>
          <a:xfrm>
            <a:off x="607763" y="8057606"/>
            <a:ext cx="4946739" cy="584775"/>
          </a:xfrm>
          <a:prstGeom prst="rect">
            <a:avLst/>
          </a:prstGeom>
          <a:noFill/>
        </p:spPr>
        <p:txBody>
          <a:bodyPr wrap="none" rtlCol="0">
            <a:spAutoFit/>
          </a:bodyPr>
          <a:lstStyle/>
          <a:p>
            <a:r>
              <a:rPr lang="en-US" sz="3200" dirty="0">
                <a:solidFill>
                  <a:srgbClr val="88A450"/>
                </a:solidFill>
              </a:rPr>
              <a:t>Presented By:</a:t>
            </a:r>
            <a:r>
              <a:rPr lang="en-US" sz="2800" dirty="0">
                <a:solidFill>
                  <a:schemeClr val="bg1"/>
                </a:solidFill>
              </a:rPr>
              <a:t> Nima Mehranfar</a:t>
            </a:r>
          </a:p>
        </p:txBody>
      </p:sp>
      <p:sp>
        <p:nvSpPr>
          <p:cNvPr id="13" name="TextBox 12">
            <a:extLst>
              <a:ext uri="{FF2B5EF4-FFF2-40B4-BE49-F238E27FC236}">
                <a16:creationId xmlns:a16="http://schemas.microsoft.com/office/drawing/2014/main" id="{024AF647-8CDC-4277-B451-F16A326C2E9F}"/>
              </a:ext>
            </a:extLst>
          </p:cNvPr>
          <p:cNvSpPr txBox="1"/>
          <p:nvPr/>
        </p:nvSpPr>
        <p:spPr>
          <a:xfrm>
            <a:off x="607763" y="8711047"/>
            <a:ext cx="4066562" cy="584775"/>
          </a:xfrm>
          <a:prstGeom prst="rect">
            <a:avLst/>
          </a:prstGeom>
          <a:noFill/>
        </p:spPr>
        <p:txBody>
          <a:bodyPr wrap="none" rtlCol="0">
            <a:spAutoFit/>
          </a:bodyPr>
          <a:lstStyle/>
          <a:p>
            <a:r>
              <a:rPr lang="en-US" sz="3200" dirty="0">
                <a:solidFill>
                  <a:srgbClr val="88A450"/>
                </a:solidFill>
              </a:rPr>
              <a:t>Course: </a:t>
            </a:r>
            <a:r>
              <a:rPr lang="en-US" sz="2800" dirty="0">
                <a:solidFill>
                  <a:schemeClr val="bg1"/>
                </a:solidFill>
              </a:rPr>
              <a:t>Cloud Computing</a:t>
            </a:r>
            <a:endParaRPr lang="en-US" dirty="0"/>
          </a:p>
        </p:txBody>
      </p:sp>
      <p:sp>
        <p:nvSpPr>
          <p:cNvPr id="16" name="AutoShape 5">
            <a:extLst>
              <a:ext uri="{FF2B5EF4-FFF2-40B4-BE49-F238E27FC236}">
                <a16:creationId xmlns:a16="http://schemas.microsoft.com/office/drawing/2014/main" id="{518BBC42-AA38-4141-8E74-66C506B59AB7}"/>
              </a:ext>
            </a:extLst>
          </p:cNvPr>
          <p:cNvSpPr/>
          <p:nvPr/>
        </p:nvSpPr>
        <p:spPr>
          <a:xfrm flipV="1">
            <a:off x="500412" y="8496300"/>
            <a:ext cx="0" cy="1790700"/>
          </a:xfrm>
          <a:prstGeom prst="line">
            <a:avLst/>
          </a:prstGeom>
          <a:ln w="19050" cap="flat">
            <a:solidFill>
              <a:srgbClr val="FFFFFF"/>
            </a:solidFill>
            <a:prstDash val="solid"/>
            <a:headEnd type="none" w="sm" len="sm"/>
            <a:tailEnd type="none" w="sm" len="sm"/>
          </a:ln>
        </p:spPr>
      </p:sp>
      <p:sp>
        <p:nvSpPr>
          <p:cNvPr id="18" name="AutoShape 4">
            <a:extLst>
              <a:ext uri="{FF2B5EF4-FFF2-40B4-BE49-F238E27FC236}">
                <a16:creationId xmlns:a16="http://schemas.microsoft.com/office/drawing/2014/main" id="{C582A3CB-DAE3-4975-863B-44DCEACF4F00}"/>
              </a:ext>
            </a:extLst>
          </p:cNvPr>
          <p:cNvSpPr/>
          <p:nvPr/>
        </p:nvSpPr>
        <p:spPr>
          <a:xfrm flipV="1">
            <a:off x="500412" y="7002780"/>
            <a:ext cx="0" cy="960120"/>
          </a:xfrm>
          <a:prstGeom prst="line">
            <a:avLst/>
          </a:prstGeom>
          <a:ln w="19050" cap="flat">
            <a:solidFill>
              <a:srgbClr val="FFFFFF"/>
            </a:solidFill>
            <a:prstDash val="solid"/>
            <a:headEnd type="none" w="sm" len="sm"/>
            <a:tailEnd type="none" w="sm" len="sm"/>
          </a:ln>
        </p:spPr>
      </p:sp>
      <p:sp>
        <p:nvSpPr>
          <p:cNvPr id="19" name="AutoShape 5">
            <a:extLst>
              <a:ext uri="{FF2B5EF4-FFF2-40B4-BE49-F238E27FC236}">
                <a16:creationId xmlns:a16="http://schemas.microsoft.com/office/drawing/2014/main" id="{86AE00F5-84A5-4D60-9A78-3DEC5A8C4B8D}"/>
              </a:ext>
            </a:extLst>
          </p:cNvPr>
          <p:cNvSpPr/>
          <p:nvPr/>
        </p:nvSpPr>
        <p:spPr>
          <a:xfrm flipV="1">
            <a:off x="500412" y="6072646"/>
            <a:ext cx="0" cy="442454"/>
          </a:xfrm>
          <a:prstGeom prst="line">
            <a:avLst/>
          </a:prstGeom>
          <a:ln w="19050" cap="flat">
            <a:solidFill>
              <a:srgbClr val="FFFFFF"/>
            </a:solidFill>
            <a:prstDash val="solid"/>
            <a:headEnd type="none" w="sm" len="sm"/>
            <a:tailEnd type="none" w="sm" len="sm"/>
          </a:ln>
        </p:spPr>
      </p:sp>
      <p:sp>
        <p:nvSpPr>
          <p:cNvPr id="21" name="AutoShape 3">
            <a:extLst>
              <a:ext uri="{FF2B5EF4-FFF2-40B4-BE49-F238E27FC236}">
                <a16:creationId xmlns:a16="http://schemas.microsoft.com/office/drawing/2014/main" id="{15CE6B4C-4626-4CE8-8287-E76755428C12}"/>
              </a:ext>
            </a:extLst>
          </p:cNvPr>
          <p:cNvSpPr/>
          <p:nvPr/>
        </p:nvSpPr>
        <p:spPr>
          <a:xfrm flipV="1">
            <a:off x="17278350" y="8674351"/>
            <a:ext cx="0" cy="480060"/>
          </a:xfrm>
          <a:prstGeom prst="line">
            <a:avLst/>
          </a:prstGeom>
          <a:ln w="19050" cap="flat">
            <a:solidFill>
              <a:srgbClr val="FFFFFF"/>
            </a:solidFill>
            <a:prstDash val="solid"/>
            <a:headEnd type="none" w="sm" len="sm"/>
            <a:tailEnd type="none" w="sm" len="sm"/>
          </a:ln>
        </p:spPr>
      </p:sp>
      <p:sp>
        <p:nvSpPr>
          <p:cNvPr id="20" name="TextBox 19">
            <a:extLst>
              <a:ext uri="{FF2B5EF4-FFF2-40B4-BE49-F238E27FC236}">
                <a16:creationId xmlns:a16="http://schemas.microsoft.com/office/drawing/2014/main" id="{2B98A6CB-7193-4B8B-8B48-16DF0154DD76}"/>
              </a:ext>
            </a:extLst>
          </p:cNvPr>
          <p:cNvSpPr txBox="1"/>
          <p:nvPr/>
        </p:nvSpPr>
        <p:spPr>
          <a:xfrm>
            <a:off x="607763" y="9364488"/>
            <a:ext cx="3048591" cy="584775"/>
          </a:xfrm>
          <a:prstGeom prst="rect">
            <a:avLst/>
          </a:prstGeom>
          <a:noFill/>
        </p:spPr>
        <p:txBody>
          <a:bodyPr wrap="none" rtlCol="0">
            <a:spAutoFit/>
          </a:bodyPr>
          <a:lstStyle/>
          <a:p>
            <a:r>
              <a:rPr lang="en-US" sz="3200" dirty="0">
                <a:solidFill>
                  <a:srgbClr val="88A450"/>
                </a:solidFill>
              </a:rPr>
              <a:t>Date: </a:t>
            </a:r>
            <a:r>
              <a:rPr lang="en-US" sz="2800" dirty="0">
                <a:solidFill>
                  <a:schemeClr val="bg1"/>
                </a:solidFill>
              </a:rPr>
              <a:t>Feb 20, 2026</a:t>
            </a:r>
            <a:endParaRPr lang="en-US" dirty="0"/>
          </a:p>
        </p:txBody>
      </p:sp>
      <p:sp>
        <p:nvSpPr>
          <p:cNvPr id="22" name="TextBox 3">
            <a:extLst>
              <a:ext uri="{FF2B5EF4-FFF2-40B4-BE49-F238E27FC236}">
                <a16:creationId xmlns:a16="http://schemas.microsoft.com/office/drawing/2014/main" id="{0D6B1DF2-2304-44C1-B813-97128DD9CA91}"/>
              </a:ext>
            </a:extLst>
          </p:cNvPr>
          <p:cNvSpPr txBox="1"/>
          <p:nvPr/>
        </p:nvSpPr>
        <p:spPr>
          <a:xfrm>
            <a:off x="786807" y="4730694"/>
            <a:ext cx="6886976" cy="1047594"/>
          </a:xfrm>
          <a:prstGeom prst="rect">
            <a:avLst/>
          </a:prstGeom>
        </p:spPr>
        <p:txBody>
          <a:bodyPr wrap="square" lIns="0" tIns="0" rIns="0" bIns="0" rtlCol="0" anchor="t">
            <a:spAutoFit/>
          </a:bodyPr>
          <a:lstStyle/>
          <a:p>
            <a:pPr algn="ctr">
              <a:lnSpc>
                <a:spcPct val="150000"/>
              </a:lnSpc>
            </a:pPr>
            <a:r>
              <a:rPr lang="en-GB" sz="2400" b="1" spc="-17" dirty="0">
                <a:solidFill>
                  <a:srgbClr val="D7E5D8"/>
                </a:solidFill>
                <a:latin typeface="IBM Plex Sans Bold"/>
                <a:ea typeface="IBM Plex Sans Bold"/>
                <a:cs typeface="IBM Plex Sans Bold"/>
                <a:sym typeface="IBM Plex Sans Bold"/>
              </a:rPr>
              <a:t>A Cloud-Native Forensic Evidence Platform Built on Microsoft Azure</a:t>
            </a:r>
            <a:endParaRPr lang="en-US" sz="2400" b="1" spc="-17" dirty="0">
              <a:solidFill>
                <a:srgbClr val="D7E5D8"/>
              </a:solidFill>
              <a:latin typeface="IBM Plex Sans Bold"/>
              <a:ea typeface="IBM Plex Sans Bold"/>
              <a:cs typeface="IBM Plex Sans Bold"/>
              <a:sym typeface="IBM Plex Sans Bold"/>
            </a:endParaRPr>
          </a:p>
        </p:txBody>
      </p:sp>
      <p:pic>
        <p:nvPicPr>
          <p:cNvPr id="9" name="Picture 8">
            <a:extLst>
              <a:ext uri="{FF2B5EF4-FFF2-40B4-BE49-F238E27FC236}">
                <a16:creationId xmlns:a16="http://schemas.microsoft.com/office/drawing/2014/main" id="{435C5881-9CF2-412F-82B0-E83CAB1CBB2C}"/>
              </a:ext>
            </a:extLst>
          </p:cNvPr>
          <p:cNvPicPr>
            <a:picLocks noChangeAspect="1"/>
          </p:cNvPicPr>
          <p:nvPr/>
        </p:nvPicPr>
        <p:blipFill>
          <a:blip r:embed="rId5">
            <a:duotone>
              <a:prstClr val="black"/>
              <a:srgbClr val="00B050">
                <a:tint val="45000"/>
                <a:satMod val="400000"/>
              </a:srgbClr>
            </a:duotone>
            <a:extLst>
              <a:ext uri="{28A0092B-C50C-407E-A947-70E740481C1C}">
                <a14:useLocalDpi xmlns:a14="http://schemas.microsoft.com/office/drawing/2010/main" val="0"/>
              </a:ext>
            </a:extLst>
          </a:blip>
          <a:stretch>
            <a:fillRect/>
          </a:stretch>
        </p:blipFill>
        <p:spPr>
          <a:xfrm>
            <a:off x="10828565" y="2567773"/>
            <a:ext cx="5287736" cy="51514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16C91432-C281-42F3-BA1A-4A514602C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182243"/>
            <a:ext cx="16253968" cy="9142857"/>
          </a:xfrm>
          <a:prstGeom prst="rect">
            <a:avLst/>
          </a:prstGeom>
        </p:spPr>
      </p:pic>
      <p:sp>
        <p:nvSpPr>
          <p:cNvPr id="5" name="Freeform 5"/>
          <p:cNvSpPr/>
          <p:nvPr/>
        </p:nvSpPr>
        <p:spPr>
          <a:xfrm>
            <a:off x="3124200" y="185606"/>
            <a:ext cx="3477986" cy="3477986"/>
          </a:xfrm>
          <a:custGeom>
            <a:avLst/>
            <a:gdLst/>
            <a:ahLst/>
            <a:cxnLst/>
            <a:rect l="l" t="t" r="r" b="b"/>
            <a:pathLst>
              <a:path w="3477986" h="3477986">
                <a:moveTo>
                  <a:pt x="0" y="0"/>
                </a:moveTo>
                <a:lnTo>
                  <a:pt x="3477986" y="0"/>
                </a:lnTo>
                <a:lnTo>
                  <a:pt x="3477986" y="3477986"/>
                </a:lnTo>
                <a:lnTo>
                  <a:pt x="0" y="34779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3537116" y="8105876"/>
            <a:ext cx="2162252" cy="2162252"/>
          </a:xfrm>
          <a:custGeom>
            <a:avLst/>
            <a:gdLst/>
            <a:ahLst/>
            <a:cxnLst/>
            <a:rect l="l" t="t" r="r" b="b"/>
            <a:pathLst>
              <a:path w="2737757" h="2737757">
                <a:moveTo>
                  <a:pt x="0" y="0"/>
                </a:moveTo>
                <a:lnTo>
                  <a:pt x="2737758" y="0"/>
                </a:lnTo>
                <a:lnTo>
                  <a:pt x="2737758" y="2737757"/>
                </a:lnTo>
                <a:lnTo>
                  <a:pt x="0" y="27377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Rectangle 1">
            <a:extLst>
              <a:ext uri="{FF2B5EF4-FFF2-40B4-BE49-F238E27FC236}">
                <a16:creationId xmlns:a16="http://schemas.microsoft.com/office/drawing/2014/main" id="{48F0A122-2A3C-4364-B6BF-8F31D085880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 , , ,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D46DB47B-1AAF-44E2-B02A-C68E3F807D76}"/>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1F1F1F"/>
                </a:solidFill>
                <a:effectLst/>
                <a:latin typeface="ElsevierSans"/>
              </a:rPr>
              <a:t>, , , , , , , </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reeform 7">
            <a:extLst>
              <a:ext uri="{FF2B5EF4-FFF2-40B4-BE49-F238E27FC236}">
                <a16:creationId xmlns:a16="http://schemas.microsoft.com/office/drawing/2014/main" id="{5C490459-3D19-4CF2-8BB6-2BBF67C4D625}"/>
              </a:ext>
            </a:extLst>
          </p:cNvPr>
          <p:cNvSpPr/>
          <p:nvPr/>
        </p:nvSpPr>
        <p:spPr>
          <a:xfrm>
            <a:off x="15094428" y="4610100"/>
            <a:ext cx="1174273" cy="1174273"/>
          </a:xfrm>
          <a:custGeom>
            <a:avLst/>
            <a:gdLst/>
            <a:ahLst/>
            <a:cxnLst/>
            <a:rect l="l" t="t" r="r" b="b"/>
            <a:pathLst>
              <a:path w="1174273" h="1174273">
                <a:moveTo>
                  <a:pt x="0" y="0"/>
                </a:moveTo>
                <a:lnTo>
                  <a:pt x="1174273" y="0"/>
                </a:lnTo>
                <a:lnTo>
                  <a:pt x="1174273" y="1174273"/>
                </a:lnTo>
                <a:lnTo>
                  <a:pt x="0" y="11742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TextBox 3">
            <a:extLst>
              <a:ext uri="{FF2B5EF4-FFF2-40B4-BE49-F238E27FC236}">
                <a16:creationId xmlns:a16="http://schemas.microsoft.com/office/drawing/2014/main" id="{8D3B16B7-C505-4F53-82A5-CCAAC4B883AA}"/>
              </a:ext>
            </a:extLst>
          </p:cNvPr>
          <p:cNvSpPr txBox="1"/>
          <p:nvPr/>
        </p:nvSpPr>
        <p:spPr>
          <a:xfrm>
            <a:off x="1358886" y="1097131"/>
            <a:ext cx="15875028" cy="903004"/>
          </a:xfrm>
          <a:prstGeom prst="rect">
            <a:avLst/>
          </a:prstGeom>
        </p:spPr>
        <p:txBody>
          <a:bodyPr lIns="0" tIns="0" rIns="0" bIns="0" rtlCol="0" anchor="t">
            <a:spAutoFit/>
          </a:bodyPr>
          <a:lstStyle/>
          <a:p>
            <a:pPr algn="ctr">
              <a:lnSpc>
                <a:spcPts val="7351"/>
              </a:lnSpc>
            </a:pPr>
            <a:r>
              <a:rPr lang="en-US" sz="5400" b="1" spc="-17" dirty="0">
                <a:solidFill>
                  <a:srgbClr val="D7E5D8"/>
                </a:solidFill>
                <a:latin typeface="IBM Plex Sans Bold"/>
                <a:ea typeface="IBM Plex Sans Bold"/>
                <a:cs typeface="IBM Plex Sans Bold"/>
                <a:sym typeface="IBM Plex Sans Bold"/>
              </a:rPr>
              <a:t>AGENDA</a:t>
            </a:r>
          </a:p>
        </p:txBody>
      </p:sp>
      <p:sp>
        <p:nvSpPr>
          <p:cNvPr id="36" name="TextBox 35">
            <a:extLst>
              <a:ext uri="{FF2B5EF4-FFF2-40B4-BE49-F238E27FC236}">
                <a16:creationId xmlns:a16="http://schemas.microsoft.com/office/drawing/2014/main" id="{F0057FA8-E29F-4779-A31E-1F2883D07F6D}"/>
              </a:ext>
            </a:extLst>
          </p:cNvPr>
          <p:cNvSpPr txBox="1"/>
          <p:nvPr/>
        </p:nvSpPr>
        <p:spPr>
          <a:xfrm>
            <a:off x="9067800" y="3009900"/>
            <a:ext cx="184731" cy="369332"/>
          </a:xfrm>
          <a:prstGeom prst="rect">
            <a:avLst/>
          </a:prstGeom>
          <a:noFill/>
        </p:spPr>
        <p:txBody>
          <a:bodyPr wrap="none" rtlCol="0">
            <a:spAutoFit/>
          </a:bodyPr>
          <a:lstStyle/>
          <a:p>
            <a:endParaRPr lang="en-US" dirty="0"/>
          </a:p>
        </p:txBody>
      </p:sp>
      <p:sp>
        <p:nvSpPr>
          <p:cNvPr id="37" name="TextBox 11">
            <a:extLst>
              <a:ext uri="{FF2B5EF4-FFF2-40B4-BE49-F238E27FC236}">
                <a16:creationId xmlns:a16="http://schemas.microsoft.com/office/drawing/2014/main" id="{718CBF40-F571-488B-B6A5-88A3EBA833FF}"/>
              </a:ext>
            </a:extLst>
          </p:cNvPr>
          <p:cNvSpPr txBox="1"/>
          <p:nvPr/>
        </p:nvSpPr>
        <p:spPr>
          <a:xfrm>
            <a:off x="8763000" y="2713728"/>
            <a:ext cx="5059733" cy="462274"/>
          </a:xfrm>
          <a:prstGeom prst="rect">
            <a:avLst/>
          </a:prstGeom>
        </p:spPr>
        <p:txBody>
          <a:bodyPr lIns="0" tIns="0" rIns="0" bIns="0" rtlCol="0" anchor="t">
            <a:spAutoFit/>
          </a:bodyPr>
          <a:lstStyle/>
          <a:p>
            <a:pPr algn="l">
              <a:lnSpc>
                <a:spcPts val="3766"/>
              </a:lnSpc>
            </a:pPr>
            <a:r>
              <a:rPr lang="en-US" sz="2921" b="1" spc="29" dirty="0">
                <a:solidFill>
                  <a:srgbClr val="88A450"/>
                </a:solidFill>
                <a:latin typeface="IBM Plex Sans Bold"/>
                <a:ea typeface="IBM Plex Sans Bold"/>
                <a:cs typeface="IBM Plex Sans Bold"/>
                <a:sym typeface="IBM Plex Sans Bold"/>
              </a:rPr>
              <a:t>Introduction &amp; Goal</a:t>
            </a:r>
          </a:p>
        </p:txBody>
      </p:sp>
      <p:sp>
        <p:nvSpPr>
          <p:cNvPr id="38" name="TextBox 11">
            <a:extLst>
              <a:ext uri="{FF2B5EF4-FFF2-40B4-BE49-F238E27FC236}">
                <a16:creationId xmlns:a16="http://schemas.microsoft.com/office/drawing/2014/main" id="{C93B5C99-B8D8-4668-B770-AA10115BE25C}"/>
              </a:ext>
            </a:extLst>
          </p:cNvPr>
          <p:cNvSpPr txBox="1"/>
          <p:nvPr/>
        </p:nvSpPr>
        <p:spPr>
          <a:xfrm>
            <a:off x="9433149" y="4125079"/>
            <a:ext cx="5059733" cy="460575"/>
          </a:xfrm>
          <a:prstGeom prst="rect">
            <a:avLst/>
          </a:prstGeom>
        </p:spPr>
        <p:txBody>
          <a:bodyPr lIns="0" tIns="0" rIns="0" bIns="0" rtlCol="0" anchor="t">
            <a:spAutoFit/>
          </a:bodyPr>
          <a:lstStyle/>
          <a:p>
            <a:pPr algn="l">
              <a:lnSpc>
                <a:spcPts val="3766"/>
              </a:lnSpc>
            </a:pPr>
            <a:r>
              <a:rPr lang="en-US" sz="2921" b="1" spc="29" dirty="0">
                <a:solidFill>
                  <a:srgbClr val="88A450"/>
                </a:solidFill>
                <a:latin typeface="IBM Plex Sans Bold"/>
                <a:ea typeface="IBM Plex Sans Bold"/>
                <a:cs typeface="IBM Plex Sans Bold"/>
                <a:sym typeface="IBM Plex Sans Bold"/>
              </a:rPr>
              <a:t>System Architecture</a:t>
            </a:r>
          </a:p>
        </p:txBody>
      </p:sp>
      <p:sp>
        <p:nvSpPr>
          <p:cNvPr id="39" name="TextBox 11">
            <a:extLst>
              <a:ext uri="{FF2B5EF4-FFF2-40B4-BE49-F238E27FC236}">
                <a16:creationId xmlns:a16="http://schemas.microsoft.com/office/drawing/2014/main" id="{7D435F25-009D-4A46-8C23-4A6FF4ADA603}"/>
              </a:ext>
            </a:extLst>
          </p:cNvPr>
          <p:cNvSpPr txBox="1"/>
          <p:nvPr/>
        </p:nvSpPr>
        <p:spPr>
          <a:xfrm>
            <a:off x="9966935" y="5521962"/>
            <a:ext cx="5059733" cy="460575"/>
          </a:xfrm>
          <a:prstGeom prst="rect">
            <a:avLst/>
          </a:prstGeom>
        </p:spPr>
        <p:txBody>
          <a:bodyPr lIns="0" tIns="0" rIns="0" bIns="0" rtlCol="0" anchor="t">
            <a:spAutoFit/>
          </a:bodyPr>
          <a:lstStyle/>
          <a:p>
            <a:pPr algn="l">
              <a:lnSpc>
                <a:spcPts val="3766"/>
              </a:lnSpc>
            </a:pPr>
            <a:r>
              <a:rPr lang="en-US" sz="2921" b="1" spc="29" dirty="0">
                <a:solidFill>
                  <a:srgbClr val="88A450"/>
                </a:solidFill>
                <a:latin typeface="IBM Plex Sans Bold"/>
                <a:ea typeface="IBM Plex Sans Bold"/>
                <a:cs typeface="IBM Plex Sans Bold"/>
                <a:sym typeface="IBM Plex Sans Bold"/>
              </a:rPr>
              <a:t>Role-based Access Control</a:t>
            </a:r>
          </a:p>
        </p:txBody>
      </p:sp>
      <p:sp>
        <p:nvSpPr>
          <p:cNvPr id="40" name="TextBox 11">
            <a:extLst>
              <a:ext uri="{FF2B5EF4-FFF2-40B4-BE49-F238E27FC236}">
                <a16:creationId xmlns:a16="http://schemas.microsoft.com/office/drawing/2014/main" id="{EBEAFF0A-FBE4-4E80-982D-5138016697B8}"/>
              </a:ext>
            </a:extLst>
          </p:cNvPr>
          <p:cNvSpPr txBox="1"/>
          <p:nvPr/>
        </p:nvSpPr>
        <p:spPr>
          <a:xfrm>
            <a:off x="9433149" y="6936200"/>
            <a:ext cx="5059733" cy="462274"/>
          </a:xfrm>
          <a:prstGeom prst="rect">
            <a:avLst/>
          </a:prstGeom>
        </p:spPr>
        <p:txBody>
          <a:bodyPr lIns="0" tIns="0" rIns="0" bIns="0" rtlCol="0" anchor="t">
            <a:spAutoFit/>
          </a:bodyPr>
          <a:lstStyle/>
          <a:p>
            <a:pPr algn="l">
              <a:lnSpc>
                <a:spcPts val="3766"/>
              </a:lnSpc>
            </a:pPr>
            <a:r>
              <a:rPr lang="en-US" sz="2921" b="1" spc="29" dirty="0">
                <a:solidFill>
                  <a:srgbClr val="88A450"/>
                </a:solidFill>
                <a:latin typeface="IBM Plex Sans Bold"/>
                <a:ea typeface="IBM Plex Sans Bold"/>
                <a:cs typeface="IBM Plex Sans Bold"/>
                <a:sym typeface="IBM Plex Sans Bold"/>
              </a:rPr>
              <a:t>Order Workflow</a:t>
            </a:r>
          </a:p>
        </p:txBody>
      </p:sp>
      <p:sp>
        <p:nvSpPr>
          <p:cNvPr id="41" name="TextBox 11">
            <a:extLst>
              <a:ext uri="{FF2B5EF4-FFF2-40B4-BE49-F238E27FC236}">
                <a16:creationId xmlns:a16="http://schemas.microsoft.com/office/drawing/2014/main" id="{46C502C7-E8E0-4708-921A-AE93101F6C3A}"/>
              </a:ext>
            </a:extLst>
          </p:cNvPr>
          <p:cNvSpPr txBox="1"/>
          <p:nvPr/>
        </p:nvSpPr>
        <p:spPr>
          <a:xfrm>
            <a:off x="8763000" y="8350438"/>
            <a:ext cx="5059733" cy="462274"/>
          </a:xfrm>
          <a:prstGeom prst="rect">
            <a:avLst/>
          </a:prstGeom>
        </p:spPr>
        <p:txBody>
          <a:bodyPr lIns="0" tIns="0" rIns="0" bIns="0" rtlCol="0" anchor="t">
            <a:spAutoFit/>
          </a:bodyPr>
          <a:lstStyle/>
          <a:p>
            <a:pPr algn="l">
              <a:lnSpc>
                <a:spcPts val="3766"/>
              </a:lnSpc>
            </a:pPr>
            <a:r>
              <a:rPr lang="en-US" sz="2921" b="1" spc="29" dirty="0">
                <a:solidFill>
                  <a:srgbClr val="88A450"/>
                </a:solidFill>
                <a:latin typeface="IBM Plex Sans Bold"/>
                <a:ea typeface="IBM Plex Sans Bold"/>
                <a:cs typeface="IBM Plex Sans Bold"/>
                <a:sym typeface="IBM Plex Sans Bold"/>
              </a:rPr>
              <a:t>Demo</a:t>
            </a:r>
          </a:p>
        </p:txBody>
      </p:sp>
      <p:sp>
        <p:nvSpPr>
          <p:cNvPr id="42" name="AutoShape 4">
            <a:extLst>
              <a:ext uri="{FF2B5EF4-FFF2-40B4-BE49-F238E27FC236}">
                <a16:creationId xmlns:a16="http://schemas.microsoft.com/office/drawing/2014/main" id="{F6BEFE3A-31BF-4873-8FD1-FE81291A3C65}"/>
              </a:ext>
            </a:extLst>
          </p:cNvPr>
          <p:cNvSpPr/>
          <p:nvPr/>
        </p:nvSpPr>
        <p:spPr>
          <a:xfrm flipV="1">
            <a:off x="500412" y="-114300"/>
            <a:ext cx="0" cy="6668815"/>
          </a:xfrm>
          <a:prstGeom prst="line">
            <a:avLst/>
          </a:prstGeom>
          <a:ln w="19050" cap="flat">
            <a:solidFill>
              <a:srgbClr val="FFFFFF"/>
            </a:solidFill>
            <a:prstDash val="solid"/>
            <a:headEnd type="none" w="sm" len="sm"/>
            <a:tailEnd type="none" w="sm" len="sm"/>
          </a:ln>
        </p:spPr>
      </p:sp>
      <p:sp>
        <p:nvSpPr>
          <p:cNvPr id="43" name="AutoShape 5">
            <a:extLst>
              <a:ext uri="{FF2B5EF4-FFF2-40B4-BE49-F238E27FC236}">
                <a16:creationId xmlns:a16="http://schemas.microsoft.com/office/drawing/2014/main" id="{2459DFB0-17D4-4432-83B1-D3575C59C0C7}"/>
              </a:ext>
            </a:extLst>
          </p:cNvPr>
          <p:cNvSpPr/>
          <p:nvPr/>
        </p:nvSpPr>
        <p:spPr>
          <a:xfrm flipV="1">
            <a:off x="500412" y="7053950"/>
            <a:ext cx="0" cy="960120"/>
          </a:xfrm>
          <a:prstGeom prst="line">
            <a:avLst/>
          </a:prstGeom>
          <a:ln w="19050" cap="flat">
            <a:solidFill>
              <a:srgbClr val="FFFFFF"/>
            </a:solidFill>
            <a:prstDash val="solid"/>
            <a:headEnd type="none" w="sm" len="sm"/>
            <a:tailEnd type="none" w="sm" len="sm"/>
          </a:ln>
        </p:spPr>
      </p:sp>
      <p:sp>
        <p:nvSpPr>
          <p:cNvPr id="44" name="AutoShape 5">
            <a:extLst>
              <a:ext uri="{FF2B5EF4-FFF2-40B4-BE49-F238E27FC236}">
                <a16:creationId xmlns:a16="http://schemas.microsoft.com/office/drawing/2014/main" id="{D587D60D-30D4-4011-A738-AC323F2C2803}"/>
              </a:ext>
            </a:extLst>
          </p:cNvPr>
          <p:cNvSpPr/>
          <p:nvPr/>
        </p:nvSpPr>
        <p:spPr>
          <a:xfrm flipV="1">
            <a:off x="500412" y="8420100"/>
            <a:ext cx="0" cy="1981198"/>
          </a:xfrm>
          <a:prstGeom prst="line">
            <a:avLst/>
          </a:prstGeom>
          <a:ln w="19050" cap="flat">
            <a:solidFill>
              <a:srgbClr val="FFFFFF"/>
            </a:solidFill>
            <a:prstDash val="solid"/>
            <a:headEnd type="none" w="sm" len="sm"/>
            <a:tailEnd type="none" w="sm" len="sm"/>
          </a:ln>
        </p:spPr>
      </p:sp>
      <p:pic>
        <p:nvPicPr>
          <p:cNvPr id="4" name="Picture 3">
            <a:extLst>
              <a:ext uri="{FF2B5EF4-FFF2-40B4-BE49-F238E27FC236}">
                <a16:creationId xmlns:a16="http://schemas.microsoft.com/office/drawing/2014/main" id="{2321A0BE-EA6E-490D-B28D-DC8A649369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5964" y="2781300"/>
            <a:ext cx="9227564" cy="6151709"/>
          </a:xfrm>
          <a:prstGeom prst="rect">
            <a:avLst/>
          </a:prstGeom>
        </p:spPr>
      </p:pic>
    </p:spTree>
    <p:extLst>
      <p:ext uri="{BB962C8B-B14F-4D97-AF65-F5344CB8AC3E}">
        <p14:creationId xmlns:p14="http://schemas.microsoft.com/office/powerpoint/2010/main" val="185018176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1734722" y="2224223"/>
            <a:ext cx="13429078" cy="291683"/>
          </a:xfrm>
          <a:prstGeom prst="rect">
            <a:avLst/>
          </a:prstGeom>
        </p:spPr>
        <p:txBody>
          <a:bodyPr wrap="square" lIns="0" tIns="0" rIns="0" bIns="0" rtlCol="0" anchor="t">
            <a:spAutoFit/>
          </a:bodyPr>
          <a:lstStyle/>
          <a:p>
            <a:pPr algn="l">
              <a:lnSpc>
                <a:spcPts val="2538"/>
              </a:lnSpc>
            </a:pPr>
            <a:r>
              <a:rPr lang="en-GB" sz="1575" spc="-4" dirty="0">
                <a:solidFill>
                  <a:srgbClr val="D7E5D8"/>
                </a:solidFill>
                <a:latin typeface="IBM Plex Sans"/>
                <a:ea typeface="IBM Plex Sans"/>
                <a:cs typeface="IBM Plex Sans"/>
                <a:sym typeface="IBM Plex Sans"/>
              </a:rPr>
              <a:t>What Problem Does DEMS Solve?</a:t>
            </a:r>
            <a:endParaRPr lang="en-US" sz="1575" spc="-4" dirty="0">
              <a:solidFill>
                <a:srgbClr val="D7E5D8"/>
              </a:solidFill>
              <a:latin typeface="IBM Plex Sans"/>
              <a:ea typeface="IBM Plex Sans"/>
              <a:cs typeface="IBM Plex Sans"/>
              <a:sym typeface="IBM Plex Sans"/>
            </a:endParaRPr>
          </a:p>
        </p:txBody>
      </p:sp>
      <p:sp>
        <p:nvSpPr>
          <p:cNvPr id="3" name="TextBox 3"/>
          <p:cNvSpPr txBox="1"/>
          <p:nvPr/>
        </p:nvSpPr>
        <p:spPr>
          <a:xfrm>
            <a:off x="1677381" y="1097131"/>
            <a:ext cx="15875028" cy="903004"/>
          </a:xfrm>
          <a:prstGeom prst="rect">
            <a:avLst/>
          </a:prstGeom>
        </p:spPr>
        <p:txBody>
          <a:bodyPr lIns="0" tIns="0" rIns="0" bIns="0" rtlCol="0" anchor="t">
            <a:spAutoFit/>
          </a:bodyPr>
          <a:lstStyle/>
          <a:p>
            <a:pPr>
              <a:lnSpc>
                <a:spcPts val="7351"/>
              </a:lnSpc>
            </a:pPr>
            <a:r>
              <a:rPr lang="en-US" sz="5400" b="1" spc="-17" dirty="0">
                <a:solidFill>
                  <a:srgbClr val="D7E5D8"/>
                </a:solidFill>
                <a:latin typeface="IBM Plex Sans Bold"/>
                <a:ea typeface="IBM Plex Sans Bold"/>
                <a:cs typeface="IBM Plex Sans Bold"/>
                <a:sym typeface="IBM Plex Sans Bold"/>
              </a:rPr>
              <a:t>PROBLEM STATEMENT &amp; PROJECT GOALS</a:t>
            </a:r>
          </a:p>
        </p:txBody>
      </p:sp>
      <p:sp>
        <p:nvSpPr>
          <p:cNvPr id="4" name="AutoShape 4"/>
          <p:cNvSpPr/>
          <p:nvPr/>
        </p:nvSpPr>
        <p:spPr>
          <a:xfrm flipV="1">
            <a:off x="500412" y="-114300"/>
            <a:ext cx="0" cy="6668815"/>
          </a:xfrm>
          <a:prstGeom prst="line">
            <a:avLst/>
          </a:prstGeom>
          <a:ln w="19050" cap="flat">
            <a:solidFill>
              <a:srgbClr val="FFFFFF"/>
            </a:solidFill>
            <a:prstDash val="solid"/>
            <a:headEnd type="none" w="sm" len="sm"/>
            <a:tailEnd type="none" w="sm" len="sm"/>
          </a:ln>
        </p:spPr>
      </p:sp>
      <p:sp>
        <p:nvSpPr>
          <p:cNvPr id="5" name="AutoShape 5"/>
          <p:cNvSpPr/>
          <p:nvPr/>
        </p:nvSpPr>
        <p:spPr>
          <a:xfrm flipV="1">
            <a:off x="500412" y="7053950"/>
            <a:ext cx="0" cy="960120"/>
          </a:xfrm>
          <a:prstGeom prst="line">
            <a:avLst/>
          </a:prstGeom>
          <a:ln w="19050" cap="flat">
            <a:solidFill>
              <a:srgbClr val="FFFFFF"/>
            </a:solidFill>
            <a:prstDash val="solid"/>
            <a:headEnd type="none" w="sm" len="sm"/>
            <a:tailEnd type="none" w="sm" len="sm"/>
          </a:ln>
        </p:spPr>
      </p:sp>
      <p:sp>
        <p:nvSpPr>
          <p:cNvPr id="8" name="TextBox 8"/>
          <p:cNvSpPr txBox="1"/>
          <p:nvPr/>
        </p:nvSpPr>
        <p:spPr>
          <a:xfrm>
            <a:off x="2945931" y="3993885"/>
            <a:ext cx="5817069" cy="1435201"/>
          </a:xfrm>
          <a:prstGeom prst="rect">
            <a:avLst/>
          </a:prstGeom>
        </p:spPr>
        <p:txBody>
          <a:bodyPr wrap="square" lIns="0" tIns="0" rIns="0" bIns="0" rtlCol="0" anchor="t">
            <a:spAutoFit/>
          </a:bodyPr>
          <a:lstStyle/>
          <a:p>
            <a:pPr algn="l">
              <a:lnSpc>
                <a:spcPts val="3766"/>
              </a:lnSpc>
            </a:pPr>
            <a:r>
              <a:rPr lang="en-GB" sz="2921" b="1" spc="29" dirty="0">
                <a:solidFill>
                  <a:srgbClr val="B7EE4A"/>
                </a:solidFill>
                <a:latin typeface="IBM Plex Sans Bold"/>
                <a:ea typeface="IBM Plex Sans Bold"/>
                <a:cs typeface="IBM Plex Sans Bold"/>
                <a:sym typeface="IBM Plex Sans Bold"/>
              </a:rPr>
              <a:t>Digital evidence is fragmented, unsearchable, and lacks audit control.</a:t>
            </a:r>
            <a:endParaRPr lang="en-US" sz="2921" b="1" spc="29" dirty="0">
              <a:solidFill>
                <a:srgbClr val="B7EE4A"/>
              </a:solidFill>
              <a:latin typeface="IBM Plex Sans Bold"/>
              <a:ea typeface="IBM Plex Sans Bold"/>
              <a:cs typeface="IBM Plex Sans Bold"/>
              <a:sym typeface="IBM Plex Sans Bold"/>
            </a:endParaRPr>
          </a:p>
        </p:txBody>
      </p:sp>
      <p:sp>
        <p:nvSpPr>
          <p:cNvPr id="9" name="TextBox 9"/>
          <p:cNvSpPr txBox="1"/>
          <p:nvPr/>
        </p:nvSpPr>
        <p:spPr>
          <a:xfrm>
            <a:off x="1658331" y="3711356"/>
            <a:ext cx="1182825" cy="1078051"/>
          </a:xfrm>
          <a:prstGeom prst="rect">
            <a:avLst/>
          </a:prstGeom>
        </p:spPr>
        <p:txBody>
          <a:bodyPr lIns="0" tIns="0" rIns="0" bIns="0" rtlCol="0" anchor="t">
            <a:spAutoFit/>
          </a:bodyPr>
          <a:lstStyle/>
          <a:p>
            <a:pPr algn="l">
              <a:lnSpc>
                <a:spcPts val="8909"/>
              </a:lnSpc>
            </a:pPr>
            <a:r>
              <a:rPr lang="en-US" sz="6060" b="1" dirty="0">
                <a:solidFill>
                  <a:srgbClr val="9CD52C"/>
                </a:solidFill>
                <a:latin typeface="Montserrat Ultra-Bold"/>
                <a:ea typeface="Montserrat Ultra-Bold"/>
                <a:cs typeface="Montserrat Ultra-Bold"/>
                <a:sym typeface="Montserrat Ultra-Bold"/>
              </a:rPr>
              <a:t>01</a:t>
            </a:r>
          </a:p>
        </p:txBody>
      </p:sp>
      <p:sp>
        <p:nvSpPr>
          <p:cNvPr id="11" name="TextBox 11"/>
          <p:cNvSpPr txBox="1"/>
          <p:nvPr/>
        </p:nvSpPr>
        <p:spPr>
          <a:xfrm>
            <a:off x="11413656" y="3993885"/>
            <a:ext cx="6373932" cy="947888"/>
          </a:xfrm>
          <a:prstGeom prst="rect">
            <a:avLst/>
          </a:prstGeom>
        </p:spPr>
        <p:txBody>
          <a:bodyPr wrap="square" lIns="0" tIns="0" rIns="0" bIns="0" rtlCol="0" anchor="t">
            <a:spAutoFit/>
          </a:bodyPr>
          <a:lstStyle/>
          <a:p>
            <a:pPr algn="l">
              <a:lnSpc>
                <a:spcPts val="3766"/>
              </a:lnSpc>
            </a:pPr>
            <a:r>
              <a:rPr lang="en-GB" sz="2921" b="1" spc="29" dirty="0">
                <a:solidFill>
                  <a:srgbClr val="B7EE4A"/>
                </a:solidFill>
                <a:latin typeface="IBM Plex Sans Bold"/>
                <a:ea typeface="IBM Plex Sans Bold"/>
                <a:cs typeface="IBM Plex Sans Bold"/>
                <a:sym typeface="IBM Plex Sans Bold"/>
              </a:rPr>
              <a:t>Investigations are slowed by manual handling of files and media.</a:t>
            </a:r>
            <a:endParaRPr lang="en-US" sz="2921" b="1" spc="29" dirty="0">
              <a:solidFill>
                <a:srgbClr val="B7EE4A"/>
              </a:solidFill>
              <a:latin typeface="IBM Plex Sans Bold"/>
              <a:ea typeface="IBM Plex Sans Bold"/>
              <a:cs typeface="IBM Plex Sans Bold"/>
              <a:sym typeface="IBM Plex Sans Bold"/>
            </a:endParaRPr>
          </a:p>
        </p:txBody>
      </p:sp>
      <p:sp>
        <p:nvSpPr>
          <p:cNvPr id="12" name="TextBox 12"/>
          <p:cNvSpPr txBox="1"/>
          <p:nvPr/>
        </p:nvSpPr>
        <p:spPr>
          <a:xfrm>
            <a:off x="10040331" y="3711356"/>
            <a:ext cx="1182825" cy="1078051"/>
          </a:xfrm>
          <a:prstGeom prst="rect">
            <a:avLst/>
          </a:prstGeom>
        </p:spPr>
        <p:txBody>
          <a:bodyPr lIns="0" tIns="0" rIns="0" bIns="0" rtlCol="0" anchor="t">
            <a:spAutoFit/>
          </a:bodyPr>
          <a:lstStyle/>
          <a:p>
            <a:pPr algn="l">
              <a:lnSpc>
                <a:spcPts val="8909"/>
              </a:lnSpc>
            </a:pPr>
            <a:r>
              <a:rPr lang="en-US" sz="6060" b="1" dirty="0">
                <a:solidFill>
                  <a:srgbClr val="9CD52C"/>
                </a:solidFill>
                <a:latin typeface="Montserrat Ultra-Bold"/>
                <a:ea typeface="Montserrat Ultra-Bold"/>
                <a:cs typeface="Montserrat Ultra-Bold"/>
                <a:sym typeface="Montserrat Ultra-Bold"/>
              </a:rPr>
              <a:t>02</a:t>
            </a:r>
          </a:p>
        </p:txBody>
      </p:sp>
      <p:sp>
        <p:nvSpPr>
          <p:cNvPr id="14" name="TextBox 14"/>
          <p:cNvSpPr txBox="1"/>
          <p:nvPr/>
        </p:nvSpPr>
        <p:spPr>
          <a:xfrm>
            <a:off x="2945930" y="6702952"/>
            <a:ext cx="5953613" cy="1435201"/>
          </a:xfrm>
          <a:prstGeom prst="rect">
            <a:avLst/>
          </a:prstGeom>
        </p:spPr>
        <p:txBody>
          <a:bodyPr wrap="square" lIns="0" tIns="0" rIns="0" bIns="0" rtlCol="0" anchor="t">
            <a:spAutoFit/>
          </a:bodyPr>
          <a:lstStyle/>
          <a:p>
            <a:pPr algn="l">
              <a:lnSpc>
                <a:spcPts val="3766"/>
              </a:lnSpc>
            </a:pPr>
            <a:r>
              <a:rPr lang="en-GB" sz="2921" b="1" spc="29" dirty="0">
                <a:solidFill>
                  <a:srgbClr val="B7EE4A"/>
                </a:solidFill>
                <a:latin typeface="IBM Plex Sans Bold"/>
                <a:ea typeface="IBM Plex Sans Bold"/>
                <a:cs typeface="IBM Plex Sans Bold"/>
                <a:sym typeface="IBM Plex Sans Bold"/>
              </a:rPr>
              <a:t>Provide a unified cloud-based platform to securely manage evidence under structured cases.</a:t>
            </a:r>
            <a:endParaRPr lang="en-US" sz="2921" b="1" spc="29" dirty="0">
              <a:solidFill>
                <a:srgbClr val="B7EE4A"/>
              </a:solidFill>
              <a:latin typeface="IBM Plex Sans Bold"/>
              <a:ea typeface="IBM Plex Sans Bold"/>
              <a:cs typeface="IBM Plex Sans Bold"/>
              <a:sym typeface="IBM Plex Sans Bold"/>
            </a:endParaRPr>
          </a:p>
        </p:txBody>
      </p:sp>
      <p:sp>
        <p:nvSpPr>
          <p:cNvPr id="15" name="TextBox 15"/>
          <p:cNvSpPr txBox="1"/>
          <p:nvPr/>
        </p:nvSpPr>
        <p:spPr>
          <a:xfrm>
            <a:off x="1658331" y="6420422"/>
            <a:ext cx="1182825" cy="1078051"/>
          </a:xfrm>
          <a:prstGeom prst="rect">
            <a:avLst/>
          </a:prstGeom>
        </p:spPr>
        <p:txBody>
          <a:bodyPr lIns="0" tIns="0" rIns="0" bIns="0" rtlCol="0" anchor="t">
            <a:spAutoFit/>
          </a:bodyPr>
          <a:lstStyle/>
          <a:p>
            <a:pPr algn="l">
              <a:lnSpc>
                <a:spcPts val="8909"/>
              </a:lnSpc>
            </a:pPr>
            <a:r>
              <a:rPr lang="en-US" sz="6060" b="1" dirty="0">
                <a:solidFill>
                  <a:srgbClr val="9CD52C"/>
                </a:solidFill>
                <a:latin typeface="Montserrat Ultra-Bold"/>
                <a:ea typeface="Montserrat Ultra-Bold"/>
                <a:cs typeface="Montserrat Ultra-Bold"/>
                <a:sym typeface="Montserrat Ultra-Bold"/>
              </a:rPr>
              <a:t>01</a:t>
            </a:r>
          </a:p>
        </p:txBody>
      </p:sp>
      <p:sp>
        <p:nvSpPr>
          <p:cNvPr id="17" name="TextBox 17"/>
          <p:cNvSpPr txBox="1"/>
          <p:nvPr/>
        </p:nvSpPr>
        <p:spPr>
          <a:xfrm>
            <a:off x="11413656" y="6702952"/>
            <a:ext cx="6798144" cy="1435201"/>
          </a:xfrm>
          <a:prstGeom prst="rect">
            <a:avLst/>
          </a:prstGeom>
        </p:spPr>
        <p:txBody>
          <a:bodyPr wrap="square" lIns="0" tIns="0" rIns="0" bIns="0" rtlCol="0" anchor="t">
            <a:spAutoFit/>
          </a:bodyPr>
          <a:lstStyle/>
          <a:p>
            <a:pPr algn="l">
              <a:lnSpc>
                <a:spcPts val="3766"/>
              </a:lnSpc>
            </a:pPr>
            <a:r>
              <a:rPr lang="en-GB" sz="2921" b="1" spc="29" dirty="0">
                <a:solidFill>
                  <a:srgbClr val="B7EE4A"/>
                </a:solidFill>
                <a:latin typeface="IBM Plex Sans Bold"/>
                <a:ea typeface="IBM Plex Sans Bold"/>
                <a:cs typeface="IBM Plex Sans Bold"/>
                <a:sym typeface="IBM Plex Sans Bold"/>
              </a:rPr>
              <a:t>Enable Cloud-powered full-text search across documents, images, and audio.</a:t>
            </a:r>
            <a:endParaRPr lang="en-US" sz="2921" b="1" spc="29" dirty="0">
              <a:solidFill>
                <a:srgbClr val="B7EE4A"/>
              </a:solidFill>
              <a:latin typeface="IBM Plex Sans Bold"/>
              <a:ea typeface="IBM Plex Sans Bold"/>
              <a:cs typeface="IBM Plex Sans Bold"/>
              <a:sym typeface="IBM Plex Sans Bold"/>
            </a:endParaRPr>
          </a:p>
        </p:txBody>
      </p:sp>
      <p:sp>
        <p:nvSpPr>
          <p:cNvPr id="18" name="TextBox 18"/>
          <p:cNvSpPr txBox="1"/>
          <p:nvPr/>
        </p:nvSpPr>
        <p:spPr>
          <a:xfrm>
            <a:off x="10040331" y="6420422"/>
            <a:ext cx="1182825" cy="1078051"/>
          </a:xfrm>
          <a:prstGeom prst="rect">
            <a:avLst/>
          </a:prstGeom>
        </p:spPr>
        <p:txBody>
          <a:bodyPr lIns="0" tIns="0" rIns="0" bIns="0" rtlCol="0" anchor="t">
            <a:spAutoFit/>
          </a:bodyPr>
          <a:lstStyle/>
          <a:p>
            <a:pPr algn="l">
              <a:lnSpc>
                <a:spcPts val="8909"/>
              </a:lnSpc>
            </a:pPr>
            <a:r>
              <a:rPr lang="en-US" sz="6060" b="1" dirty="0">
                <a:solidFill>
                  <a:srgbClr val="9CD52C"/>
                </a:solidFill>
                <a:latin typeface="Montserrat Ultra-Bold"/>
                <a:ea typeface="Montserrat Ultra-Bold"/>
                <a:cs typeface="Montserrat Ultra-Bold"/>
                <a:sym typeface="Montserrat Ultra-Bold"/>
              </a:rPr>
              <a:t>02</a:t>
            </a:r>
          </a:p>
        </p:txBody>
      </p:sp>
      <p:sp>
        <p:nvSpPr>
          <p:cNvPr id="19" name="Freeform 19"/>
          <p:cNvSpPr/>
          <p:nvPr/>
        </p:nvSpPr>
        <p:spPr>
          <a:xfrm>
            <a:off x="15957252" y="1682187"/>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a:off x="10931283" y="9334500"/>
            <a:ext cx="964746" cy="964746"/>
          </a:xfrm>
          <a:custGeom>
            <a:avLst/>
            <a:gdLst/>
            <a:ahLst/>
            <a:cxnLst/>
            <a:rect l="l" t="t" r="r" b="b"/>
            <a:pathLst>
              <a:path w="964746" h="964746">
                <a:moveTo>
                  <a:pt x="0" y="0"/>
                </a:moveTo>
                <a:lnTo>
                  <a:pt x="964746" y="0"/>
                </a:lnTo>
                <a:lnTo>
                  <a:pt x="964746" y="964747"/>
                </a:lnTo>
                <a:lnTo>
                  <a:pt x="0" y="9647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8899544" y="8542949"/>
            <a:ext cx="715351" cy="715351"/>
          </a:xfrm>
          <a:custGeom>
            <a:avLst/>
            <a:gdLst/>
            <a:ahLst/>
            <a:cxnLst/>
            <a:rect l="l" t="t" r="r" b="b"/>
            <a:pathLst>
              <a:path w="715351" h="715351">
                <a:moveTo>
                  <a:pt x="0" y="0"/>
                </a:moveTo>
                <a:lnTo>
                  <a:pt x="715351" y="0"/>
                </a:lnTo>
                <a:lnTo>
                  <a:pt x="715351" y="715351"/>
                </a:lnTo>
                <a:lnTo>
                  <a:pt x="0" y="7153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AutoShape 5">
            <a:extLst>
              <a:ext uri="{FF2B5EF4-FFF2-40B4-BE49-F238E27FC236}">
                <a16:creationId xmlns:a16="http://schemas.microsoft.com/office/drawing/2014/main" id="{2D248041-1B93-41DA-9CA7-D56EF797B226}"/>
              </a:ext>
            </a:extLst>
          </p:cNvPr>
          <p:cNvSpPr/>
          <p:nvPr/>
        </p:nvSpPr>
        <p:spPr>
          <a:xfrm flipV="1">
            <a:off x="500412" y="8420100"/>
            <a:ext cx="0" cy="1981198"/>
          </a:xfrm>
          <a:prstGeom prst="line">
            <a:avLst/>
          </a:prstGeom>
          <a:ln w="19050" cap="flat">
            <a:solidFill>
              <a:srgbClr val="FFFFFF"/>
            </a:solidFill>
            <a:prstDash val="solid"/>
            <a:headEnd type="none" w="sm" len="sm"/>
            <a:tailEnd type="none" w="sm" len="sm"/>
          </a:ln>
        </p:spPr>
      </p:sp>
      <p:sp>
        <p:nvSpPr>
          <p:cNvPr id="24" name="TextBox 9">
            <a:extLst>
              <a:ext uri="{FF2B5EF4-FFF2-40B4-BE49-F238E27FC236}">
                <a16:creationId xmlns:a16="http://schemas.microsoft.com/office/drawing/2014/main" id="{1403A76E-424C-4B71-88E4-CE00FA6B453D}"/>
              </a:ext>
            </a:extLst>
          </p:cNvPr>
          <p:cNvSpPr txBox="1"/>
          <p:nvPr/>
        </p:nvSpPr>
        <p:spPr>
          <a:xfrm>
            <a:off x="1677381" y="3404754"/>
            <a:ext cx="5347546" cy="387991"/>
          </a:xfrm>
          <a:prstGeom prst="rect">
            <a:avLst/>
          </a:prstGeom>
        </p:spPr>
        <p:txBody>
          <a:bodyPr lIns="0" tIns="0" rIns="0" bIns="0" rtlCol="0" anchor="t">
            <a:spAutoFit/>
          </a:bodyPr>
          <a:lstStyle/>
          <a:p>
            <a:pPr algn="l">
              <a:lnSpc>
                <a:spcPts val="3177"/>
              </a:lnSpc>
            </a:pPr>
            <a:r>
              <a:rPr lang="en-US" sz="2464" b="1" spc="24" dirty="0">
                <a:solidFill>
                  <a:schemeClr val="bg1"/>
                </a:solidFill>
                <a:latin typeface="IBM Plex Sans Bold"/>
                <a:ea typeface="IBM Plex Sans Bold"/>
                <a:cs typeface="IBM Plex Sans Bold"/>
                <a:sym typeface="IBM Plex Sans Bold"/>
              </a:rPr>
              <a:t>Problem:</a:t>
            </a:r>
          </a:p>
        </p:txBody>
      </p:sp>
      <p:sp>
        <p:nvSpPr>
          <p:cNvPr id="25" name="TextBox 9">
            <a:extLst>
              <a:ext uri="{FF2B5EF4-FFF2-40B4-BE49-F238E27FC236}">
                <a16:creationId xmlns:a16="http://schemas.microsoft.com/office/drawing/2014/main" id="{E0EFA2EE-0AFB-477C-B14D-8D41BF42DC30}"/>
              </a:ext>
            </a:extLst>
          </p:cNvPr>
          <p:cNvSpPr txBox="1"/>
          <p:nvPr/>
        </p:nvSpPr>
        <p:spPr>
          <a:xfrm>
            <a:off x="1677381" y="6032431"/>
            <a:ext cx="5347546" cy="387991"/>
          </a:xfrm>
          <a:prstGeom prst="rect">
            <a:avLst/>
          </a:prstGeom>
        </p:spPr>
        <p:txBody>
          <a:bodyPr lIns="0" tIns="0" rIns="0" bIns="0" rtlCol="0" anchor="t">
            <a:spAutoFit/>
          </a:bodyPr>
          <a:lstStyle/>
          <a:p>
            <a:pPr algn="l">
              <a:lnSpc>
                <a:spcPts val="3177"/>
              </a:lnSpc>
            </a:pPr>
            <a:r>
              <a:rPr lang="en-US" sz="2464" b="1" spc="24" dirty="0">
                <a:solidFill>
                  <a:schemeClr val="bg1"/>
                </a:solidFill>
                <a:latin typeface="IBM Plex Sans Bold"/>
                <a:ea typeface="IBM Plex Sans Bold"/>
                <a:cs typeface="IBM Plex Sans Bold"/>
                <a:sym typeface="IBM Plex Sans Bold"/>
              </a:rPr>
              <a:t>Goal:</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677381" y="1059031"/>
            <a:ext cx="15445245" cy="908655"/>
          </a:xfrm>
          <a:prstGeom prst="rect">
            <a:avLst/>
          </a:prstGeom>
        </p:spPr>
        <p:txBody>
          <a:bodyPr lIns="0" tIns="0" rIns="0" bIns="0" rtlCol="0" anchor="t">
            <a:spAutoFit/>
          </a:bodyPr>
          <a:lstStyle/>
          <a:p>
            <a:pPr algn="l">
              <a:lnSpc>
                <a:spcPts val="7351"/>
              </a:lnSpc>
            </a:pPr>
            <a:r>
              <a:rPr lang="en-US" sz="5400" b="1" spc="-17" dirty="0">
                <a:solidFill>
                  <a:srgbClr val="D7E5D8"/>
                </a:solidFill>
                <a:latin typeface="IBM Plex Sans Bold"/>
                <a:ea typeface="IBM Plex Sans Bold"/>
                <a:cs typeface="IBM Plex Sans Bold"/>
                <a:sym typeface="IBM Plex Sans Bold"/>
              </a:rPr>
              <a:t>System Architecture</a:t>
            </a:r>
          </a:p>
        </p:txBody>
      </p:sp>
      <p:sp>
        <p:nvSpPr>
          <p:cNvPr id="3" name="AutoShape 3"/>
          <p:cNvSpPr/>
          <p:nvPr/>
        </p:nvSpPr>
        <p:spPr>
          <a:xfrm flipV="1">
            <a:off x="500412" y="-190500"/>
            <a:ext cx="0" cy="6745015"/>
          </a:xfrm>
          <a:prstGeom prst="line">
            <a:avLst/>
          </a:prstGeom>
          <a:ln w="19050" cap="flat">
            <a:solidFill>
              <a:srgbClr val="FFFFFF"/>
            </a:solidFill>
            <a:prstDash val="solid"/>
            <a:headEnd type="none" w="sm" len="sm"/>
            <a:tailEnd type="none" w="sm" len="sm"/>
          </a:ln>
        </p:spPr>
      </p:sp>
      <p:sp>
        <p:nvSpPr>
          <p:cNvPr id="4" name="AutoShape 4"/>
          <p:cNvSpPr/>
          <p:nvPr/>
        </p:nvSpPr>
        <p:spPr>
          <a:xfrm flipV="1">
            <a:off x="500412" y="7053950"/>
            <a:ext cx="0" cy="960120"/>
          </a:xfrm>
          <a:prstGeom prst="line">
            <a:avLst/>
          </a:prstGeom>
          <a:ln w="19050" cap="flat">
            <a:solidFill>
              <a:srgbClr val="FFFFFF"/>
            </a:solidFill>
            <a:prstDash val="solid"/>
            <a:headEnd type="none" w="sm" len="sm"/>
            <a:tailEnd type="none" w="sm" len="sm"/>
          </a:ln>
        </p:spPr>
      </p:sp>
      <p:sp>
        <p:nvSpPr>
          <p:cNvPr id="5" name="AutoShape 5"/>
          <p:cNvSpPr/>
          <p:nvPr/>
        </p:nvSpPr>
        <p:spPr>
          <a:xfrm flipV="1">
            <a:off x="500412" y="8446345"/>
            <a:ext cx="0" cy="442454"/>
          </a:xfrm>
          <a:prstGeom prst="line">
            <a:avLst/>
          </a:prstGeom>
          <a:ln w="19050" cap="flat">
            <a:solidFill>
              <a:srgbClr val="FFFFFF"/>
            </a:solidFill>
            <a:prstDash val="solid"/>
            <a:headEnd type="none" w="sm" len="sm"/>
            <a:tailEnd type="none" w="sm" len="sm"/>
          </a:ln>
        </p:spPr>
      </p:sp>
      <p:sp>
        <p:nvSpPr>
          <p:cNvPr id="6" name="Freeform 6"/>
          <p:cNvSpPr/>
          <p:nvPr/>
        </p:nvSpPr>
        <p:spPr>
          <a:xfrm>
            <a:off x="16634436" y="1007380"/>
            <a:ext cx="2330748" cy="2330748"/>
          </a:xfrm>
          <a:custGeom>
            <a:avLst/>
            <a:gdLst/>
            <a:ahLst/>
            <a:cxnLst/>
            <a:rect l="l" t="t" r="r" b="b"/>
            <a:pathLst>
              <a:path w="2330748" h="2330748">
                <a:moveTo>
                  <a:pt x="0" y="0"/>
                </a:moveTo>
                <a:lnTo>
                  <a:pt x="2330748" y="0"/>
                </a:lnTo>
                <a:lnTo>
                  <a:pt x="2330748" y="2330748"/>
                </a:lnTo>
                <a:lnTo>
                  <a:pt x="0" y="233074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412863" y="3655294"/>
            <a:ext cx="1174273" cy="1174273"/>
          </a:xfrm>
          <a:custGeom>
            <a:avLst/>
            <a:gdLst/>
            <a:ahLst/>
            <a:cxnLst/>
            <a:rect l="l" t="t" r="r" b="b"/>
            <a:pathLst>
              <a:path w="1174273" h="1174273">
                <a:moveTo>
                  <a:pt x="0" y="0"/>
                </a:moveTo>
                <a:lnTo>
                  <a:pt x="1174273" y="0"/>
                </a:lnTo>
                <a:lnTo>
                  <a:pt x="1174273" y="1174273"/>
                </a:lnTo>
                <a:lnTo>
                  <a:pt x="0" y="11742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13405589" y="8267700"/>
            <a:ext cx="3604942" cy="3604942"/>
          </a:xfrm>
          <a:custGeom>
            <a:avLst/>
            <a:gdLst/>
            <a:ahLst/>
            <a:cxnLst/>
            <a:rect l="l" t="t" r="r" b="b"/>
            <a:pathLst>
              <a:path w="3604942" h="3604942">
                <a:moveTo>
                  <a:pt x="0" y="0"/>
                </a:moveTo>
                <a:lnTo>
                  <a:pt x="3604942" y="0"/>
                </a:lnTo>
                <a:lnTo>
                  <a:pt x="3604942" y="3604942"/>
                </a:lnTo>
                <a:lnTo>
                  <a:pt x="0" y="36049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1734722" y="2186123"/>
            <a:ext cx="13886278" cy="291683"/>
          </a:xfrm>
          <a:prstGeom prst="rect">
            <a:avLst/>
          </a:prstGeom>
        </p:spPr>
        <p:txBody>
          <a:bodyPr wrap="square" lIns="0" tIns="0" rIns="0" bIns="0" rtlCol="0" anchor="t">
            <a:spAutoFit/>
          </a:bodyPr>
          <a:lstStyle/>
          <a:p>
            <a:pPr algn="l">
              <a:lnSpc>
                <a:spcPts val="2538"/>
              </a:lnSpc>
            </a:pPr>
            <a:r>
              <a:rPr lang="en-GB" sz="1575" spc="-4" dirty="0">
                <a:solidFill>
                  <a:srgbClr val="D7E5D8"/>
                </a:solidFill>
                <a:latin typeface="IBM Plex Sans"/>
                <a:ea typeface="IBM Plex Sans"/>
                <a:cs typeface="IBM Plex Sans"/>
                <a:sym typeface="IBM Plex Sans"/>
              </a:rPr>
              <a:t>Architecture Overview — All Azure, No On-Premise</a:t>
            </a:r>
            <a:endParaRPr lang="en-US" sz="1575" spc="-4" dirty="0">
              <a:solidFill>
                <a:srgbClr val="D7E5D8"/>
              </a:solidFill>
              <a:latin typeface="IBM Plex Sans"/>
              <a:ea typeface="IBM Plex Sans"/>
              <a:cs typeface="IBM Plex Sans"/>
              <a:sym typeface="IBM Plex Sans"/>
            </a:endParaRPr>
          </a:p>
        </p:txBody>
      </p:sp>
      <p:sp>
        <p:nvSpPr>
          <p:cNvPr id="21" name="AutoShape 5">
            <a:extLst>
              <a:ext uri="{FF2B5EF4-FFF2-40B4-BE49-F238E27FC236}">
                <a16:creationId xmlns:a16="http://schemas.microsoft.com/office/drawing/2014/main" id="{23F5B3BC-6F4D-4BB3-925F-3109FD71EF22}"/>
              </a:ext>
            </a:extLst>
          </p:cNvPr>
          <p:cNvSpPr/>
          <p:nvPr/>
        </p:nvSpPr>
        <p:spPr>
          <a:xfrm rot="16200000" flipV="1">
            <a:off x="16893540" y="9186953"/>
            <a:ext cx="0" cy="960120"/>
          </a:xfrm>
          <a:prstGeom prst="line">
            <a:avLst/>
          </a:prstGeom>
          <a:ln w="19050" cap="flat">
            <a:solidFill>
              <a:srgbClr val="FFFFFF"/>
            </a:solidFill>
            <a:prstDash val="solid"/>
            <a:headEnd type="none" w="sm" len="sm"/>
            <a:tailEnd type="none" w="sm" len="sm"/>
          </a:ln>
        </p:spPr>
      </p:sp>
      <p:sp>
        <p:nvSpPr>
          <p:cNvPr id="22" name="AutoShape 6">
            <a:extLst>
              <a:ext uri="{FF2B5EF4-FFF2-40B4-BE49-F238E27FC236}">
                <a16:creationId xmlns:a16="http://schemas.microsoft.com/office/drawing/2014/main" id="{7FD72DAD-FBA5-4135-B8FB-3042915D6388}"/>
              </a:ext>
            </a:extLst>
          </p:cNvPr>
          <p:cNvSpPr/>
          <p:nvPr/>
        </p:nvSpPr>
        <p:spPr>
          <a:xfrm rot="16200000" flipV="1">
            <a:off x="18066773" y="9445785"/>
            <a:ext cx="0" cy="442454"/>
          </a:xfrm>
          <a:prstGeom prst="line">
            <a:avLst/>
          </a:prstGeom>
          <a:ln w="19050" cap="flat">
            <a:solidFill>
              <a:srgbClr val="FFFFFF"/>
            </a:solidFill>
            <a:prstDash val="solid"/>
            <a:headEnd type="none" w="sm" len="sm"/>
            <a:tailEnd type="none" w="sm" len="sm"/>
          </a:ln>
        </p:spPr>
      </p:sp>
      <p:sp>
        <p:nvSpPr>
          <p:cNvPr id="25" name="TextBox 13">
            <a:extLst>
              <a:ext uri="{FF2B5EF4-FFF2-40B4-BE49-F238E27FC236}">
                <a16:creationId xmlns:a16="http://schemas.microsoft.com/office/drawing/2014/main" id="{B0566BF8-D207-4F5C-9B37-E4648ACC1784}"/>
              </a:ext>
            </a:extLst>
          </p:cNvPr>
          <p:cNvSpPr txBox="1"/>
          <p:nvPr/>
        </p:nvSpPr>
        <p:spPr>
          <a:xfrm>
            <a:off x="2066686" y="4223435"/>
            <a:ext cx="7065855"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Static Web Apps: </a:t>
            </a:r>
            <a:r>
              <a:rPr lang="en-GB" sz="2000" b="1" spc="26" dirty="0">
                <a:solidFill>
                  <a:schemeClr val="bg1"/>
                </a:solidFill>
                <a:latin typeface="IBM Plex Sans Bold"/>
                <a:ea typeface="IBM Plex Sans Bold"/>
                <a:cs typeface="IBM Plex Sans Bold"/>
                <a:sym typeface="IBM Plex Sans Bold"/>
              </a:rPr>
              <a:t>Hosts the React SPA and deploys via GitHub Actions.</a:t>
            </a:r>
            <a:endParaRPr lang="fr-FR" sz="2000" b="1" spc="26" dirty="0">
              <a:solidFill>
                <a:schemeClr val="bg1"/>
              </a:solidFill>
              <a:latin typeface="IBM Plex Sans Bold"/>
              <a:ea typeface="IBM Plex Sans Bold"/>
              <a:cs typeface="IBM Plex Sans Bold"/>
              <a:sym typeface="IBM Plex Sans Bold"/>
            </a:endParaRPr>
          </a:p>
        </p:txBody>
      </p:sp>
      <p:sp>
        <p:nvSpPr>
          <p:cNvPr id="26" name="TextBox 14">
            <a:extLst>
              <a:ext uri="{FF2B5EF4-FFF2-40B4-BE49-F238E27FC236}">
                <a16:creationId xmlns:a16="http://schemas.microsoft.com/office/drawing/2014/main" id="{AB4F372D-5A96-4F09-BB8C-48C07C62C723}"/>
              </a:ext>
            </a:extLst>
          </p:cNvPr>
          <p:cNvSpPr txBox="1"/>
          <p:nvPr/>
        </p:nvSpPr>
        <p:spPr>
          <a:xfrm>
            <a:off x="1022408" y="3933731"/>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30" name="TextBox 16">
            <a:extLst>
              <a:ext uri="{FF2B5EF4-FFF2-40B4-BE49-F238E27FC236}">
                <a16:creationId xmlns:a16="http://schemas.microsoft.com/office/drawing/2014/main" id="{72AC2D51-563C-474D-AEF4-37BD920A8FA0}"/>
              </a:ext>
            </a:extLst>
          </p:cNvPr>
          <p:cNvSpPr txBox="1"/>
          <p:nvPr/>
        </p:nvSpPr>
        <p:spPr>
          <a:xfrm>
            <a:off x="2066685" y="5358133"/>
            <a:ext cx="7065855"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API Management (APIM): </a:t>
            </a:r>
            <a:r>
              <a:rPr lang="en-GB" sz="2000" b="1" spc="26" dirty="0">
                <a:solidFill>
                  <a:schemeClr val="bg1"/>
                </a:solidFill>
                <a:latin typeface="IBM Plex Sans Bold"/>
                <a:ea typeface="IBM Plex Sans Bold"/>
                <a:cs typeface="IBM Plex Sans Bold"/>
                <a:sym typeface="IBM Plex Sans Bold"/>
              </a:rPr>
              <a:t>Single public API entry point with JWT validation + CORS + stable base URL.</a:t>
            </a:r>
          </a:p>
        </p:txBody>
      </p:sp>
      <p:sp>
        <p:nvSpPr>
          <p:cNvPr id="31" name="TextBox 17">
            <a:extLst>
              <a:ext uri="{FF2B5EF4-FFF2-40B4-BE49-F238E27FC236}">
                <a16:creationId xmlns:a16="http://schemas.microsoft.com/office/drawing/2014/main" id="{EAA3D9A8-A504-4647-9C5E-2C9608F5FC50}"/>
              </a:ext>
            </a:extLst>
          </p:cNvPr>
          <p:cNvSpPr txBox="1"/>
          <p:nvPr/>
        </p:nvSpPr>
        <p:spPr>
          <a:xfrm>
            <a:off x="1022408" y="5067300"/>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32" name="TextBox 13">
            <a:extLst>
              <a:ext uri="{FF2B5EF4-FFF2-40B4-BE49-F238E27FC236}">
                <a16:creationId xmlns:a16="http://schemas.microsoft.com/office/drawing/2014/main" id="{CC4ECDA2-40F6-48A1-8CA3-87F39C198E84}"/>
              </a:ext>
            </a:extLst>
          </p:cNvPr>
          <p:cNvSpPr txBox="1"/>
          <p:nvPr/>
        </p:nvSpPr>
        <p:spPr>
          <a:xfrm>
            <a:off x="2066687" y="6450048"/>
            <a:ext cx="7065854"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Functions (Node.js/TypeScript): </a:t>
            </a:r>
            <a:r>
              <a:rPr lang="en-GB" sz="2000" b="1" spc="26" dirty="0">
                <a:solidFill>
                  <a:schemeClr val="bg1"/>
                </a:solidFill>
                <a:latin typeface="IBM Plex Sans Bold"/>
                <a:ea typeface="IBM Plex Sans Bold"/>
                <a:cs typeface="IBM Plex Sans Bold"/>
                <a:sym typeface="IBM Plex Sans Bold"/>
              </a:rPr>
              <a:t>Implements HTTP APIs and processes evidence via blob-trigger pipeline.</a:t>
            </a:r>
            <a:endParaRPr lang="fr-FR" sz="2000" b="1" spc="26" dirty="0">
              <a:solidFill>
                <a:schemeClr val="bg1"/>
              </a:solidFill>
              <a:latin typeface="IBM Plex Sans Bold"/>
              <a:ea typeface="IBM Plex Sans Bold"/>
              <a:cs typeface="IBM Plex Sans Bold"/>
              <a:sym typeface="IBM Plex Sans Bold"/>
            </a:endParaRPr>
          </a:p>
        </p:txBody>
      </p:sp>
      <p:sp>
        <p:nvSpPr>
          <p:cNvPr id="33" name="TextBox 14">
            <a:extLst>
              <a:ext uri="{FF2B5EF4-FFF2-40B4-BE49-F238E27FC236}">
                <a16:creationId xmlns:a16="http://schemas.microsoft.com/office/drawing/2014/main" id="{5604BA7C-6BE4-4AA2-8E73-8775AE7C0D0B}"/>
              </a:ext>
            </a:extLst>
          </p:cNvPr>
          <p:cNvSpPr txBox="1"/>
          <p:nvPr/>
        </p:nvSpPr>
        <p:spPr>
          <a:xfrm>
            <a:off x="1022408" y="6160344"/>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34" name="TextBox 13">
            <a:extLst>
              <a:ext uri="{FF2B5EF4-FFF2-40B4-BE49-F238E27FC236}">
                <a16:creationId xmlns:a16="http://schemas.microsoft.com/office/drawing/2014/main" id="{A4B54DAD-CA6D-4764-B087-C2976CEE400F}"/>
              </a:ext>
            </a:extLst>
          </p:cNvPr>
          <p:cNvSpPr txBox="1"/>
          <p:nvPr/>
        </p:nvSpPr>
        <p:spPr>
          <a:xfrm>
            <a:off x="2066686" y="3147204"/>
            <a:ext cx="7065855"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Microsoft </a:t>
            </a:r>
            <a:r>
              <a:rPr lang="en-GB" sz="2000" b="1" spc="26" dirty="0" err="1">
                <a:solidFill>
                  <a:srgbClr val="B7EE4A"/>
                </a:solidFill>
                <a:latin typeface="IBM Plex Sans Bold"/>
                <a:ea typeface="IBM Plex Sans Bold"/>
                <a:cs typeface="IBM Plex Sans Bold"/>
                <a:sym typeface="IBM Plex Sans Bold"/>
              </a:rPr>
              <a:t>Entra</a:t>
            </a:r>
            <a:r>
              <a:rPr lang="en-GB" sz="2000" b="1" spc="26" dirty="0">
                <a:solidFill>
                  <a:srgbClr val="B7EE4A"/>
                </a:solidFill>
                <a:latin typeface="IBM Plex Sans Bold"/>
                <a:ea typeface="IBM Plex Sans Bold"/>
                <a:cs typeface="IBM Plex Sans Bold"/>
                <a:sym typeface="IBM Plex Sans Bold"/>
              </a:rPr>
              <a:t> ID (Workforce): </a:t>
            </a:r>
            <a:r>
              <a:rPr lang="en-GB" sz="2000" b="1" spc="26" dirty="0">
                <a:solidFill>
                  <a:schemeClr val="bg1"/>
                </a:solidFill>
                <a:latin typeface="IBM Plex Sans Bold"/>
                <a:ea typeface="IBM Plex Sans Bold"/>
                <a:cs typeface="IBM Plex Sans Bold"/>
                <a:sym typeface="IBM Plex Sans Bold"/>
              </a:rPr>
              <a:t>Authenticates users and provides app roles for RBAC.</a:t>
            </a:r>
            <a:endParaRPr lang="fr-FR" sz="2000" b="1" spc="26" dirty="0">
              <a:solidFill>
                <a:schemeClr val="bg1"/>
              </a:solidFill>
              <a:latin typeface="IBM Plex Sans Bold"/>
              <a:ea typeface="IBM Plex Sans Bold"/>
              <a:cs typeface="IBM Plex Sans Bold"/>
              <a:sym typeface="IBM Plex Sans Bold"/>
            </a:endParaRPr>
          </a:p>
        </p:txBody>
      </p:sp>
      <p:sp>
        <p:nvSpPr>
          <p:cNvPr id="35" name="TextBox 14">
            <a:extLst>
              <a:ext uri="{FF2B5EF4-FFF2-40B4-BE49-F238E27FC236}">
                <a16:creationId xmlns:a16="http://schemas.microsoft.com/office/drawing/2014/main" id="{A8356488-BE8B-4F40-8727-35C2404E4987}"/>
              </a:ext>
            </a:extLst>
          </p:cNvPr>
          <p:cNvSpPr txBox="1"/>
          <p:nvPr/>
        </p:nvSpPr>
        <p:spPr>
          <a:xfrm>
            <a:off x="1022408" y="2857500"/>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47" name="TextBox 13">
            <a:extLst>
              <a:ext uri="{FF2B5EF4-FFF2-40B4-BE49-F238E27FC236}">
                <a16:creationId xmlns:a16="http://schemas.microsoft.com/office/drawing/2014/main" id="{F92B65AA-783B-4DAE-93AF-52404986F87A}"/>
              </a:ext>
            </a:extLst>
          </p:cNvPr>
          <p:cNvSpPr txBox="1"/>
          <p:nvPr/>
        </p:nvSpPr>
        <p:spPr>
          <a:xfrm>
            <a:off x="2066686" y="7541963"/>
            <a:ext cx="7065854"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Key Vault: </a:t>
            </a:r>
            <a:r>
              <a:rPr lang="en-GB" sz="2000" b="1" spc="26" dirty="0">
                <a:solidFill>
                  <a:schemeClr val="bg1"/>
                </a:solidFill>
                <a:latin typeface="IBM Plex Sans Bold"/>
                <a:ea typeface="IBM Plex Sans Bold"/>
                <a:cs typeface="IBM Plex Sans Bold"/>
                <a:sym typeface="IBM Plex Sans Bold"/>
              </a:rPr>
              <a:t>Holds secrets (AI/Search keys etc.) resolved at runtime without hardcoding</a:t>
            </a:r>
            <a:r>
              <a:rPr lang="en-GB" sz="2000" b="1" spc="26" dirty="0">
                <a:solidFill>
                  <a:srgbClr val="B7EE4A"/>
                </a:solidFill>
                <a:latin typeface="IBM Plex Sans Bold"/>
                <a:ea typeface="IBM Plex Sans Bold"/>
                <a:cs typeface="IBM Plex Sans Bold"/>
                <a:sym typeface="IBM Plex Sans Bold"/>
              </a:rPr>
              <a:t>.</a:t>
            </a:r>
            <a:endParaRPr lang="fr-FR" sz="2000" b="1" spc="26" dirty="0">
              <a:solidFill>
                <a:srgbClr val="B7EE4A"/>
              </a:solidFill>
              <a:latin typeface="IBM Plex Sans Bold"/>
              <a:ea typeface="IBM Plex Sans Bold"/>
              <a:cs typeface="IBM Plex Sans Bold"/>
              <a:sym typeface="IBM Plex Sans Bold"/>
            </a:endParaRPr>
          </a:p>
        </p:txBody>
      </p:sp>
      <p:sp>
        <p:nvSpPr>
          <p:cNvPr id="48" name="TextBox 14">
            <a:extLst>
              <a:ext uri="{FF2B5EF4-FFF2-40B4-BE49-F238E27FC236}">
                <a16:creationId xmlns:a16="http://schemas.microsoft.com/office/drawing/2014/main" id="{43F0D457-1B4C-41D8-8C23-22F94CAC2605}"/>
              </a:ext>
            </a:extLst>
          </p:cNvPr>
          <p:cNvSpPr txBox="1"/>
          <p:nvPr/>
        </p:nvSpPr>
        <p:spPr>
          <a:xfrm>
            <a:off x="1022407" y="7252259"/>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49" name="TextBox 13">
            <a:extLst>
              <a:ext uri="{FF2B5EF4-FFF2-40B4-BE49-F238E27FC236}">
                <a16:creationId xmlns:a16="http://schemas.microsoft.com/office/drawing/2014/main" id="{716E36F9-6498-41FB-8B16-89E3BEDEFEAB}"/>
              </a:ext>
            </a:extLst>
          </p:cNvPr>
          <p:cNvSpPr txBox="1"/>
          <p:nvPr/>
        </p:nvSpPr>
        <p:spPr>
          <a:xfrm>
            <a:off x="10832134" y="4223435"/>
            <a:ext cx="6772514"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Cosmos DB: </a:t>
            </a:r>
            <a:r>
              <a:rPr lang="en-GB" sz="2000" b="1" spc="26" dirty="0">
                <a:solidFill>
                  <a:schemeClr val="bg1"/>
                </a:solidFill>
                <a:latin typeface="IBM Plex Sans Bold"/>
                <a:ea typeface="IBM Plex Sans Bold"/>
                <a:cs typeface="IBM Plex Sans Bold"/>
                <a:sym typeface="IBM Plex Sans Bold"/>
              </a:rPr>
              <a:t>Stores metadata + relationships (departments, cases, evidence, users/roles mapping).</a:t>
            </a:r>
            <a:endParaRPr lang="fr-FR" sz="2000" b="1" spc="26" dirty="0">
              <a:solidFill>
                <a:schemeClr val="bg1"/>
              </a:solidFill>
              <a:latin typeface="IBM Plex Sans Bold"/>
              <a:ea typeface="IBM Plex Sans Bold"/>
              <a:cs typeface="IBM Plex Sans Bold"/>
              <a:sym typeface="IBM Plex Sans Bold"/>
            </a:endParaRPr>
          </a:p>
        </p:txBody>
      </p:sp>
      <p:sp>
        <p:nvSpPr>
          <p:cNvPr id="50" name="TextBox 14">
            <a:extLst>
              <a:ext uri="{FF2B5EF4-FFF2-40B4-BE49-F238E27FC236}">
                <a16:creationId xmlns:a16="http://schemas.microsoft.com/office/drawing/2014/main" id="{7068E4FA-B680-44BE-BB01-78E3E1779AEB}"/>
              </a:ext>
            </a:extLst>
          </p:cNvPr>
          <p:cNvSpPr txBox="1"/>
          <p:nvPr/>
        </p:nvSpPr>
        <p:spPr>
          <a:xfrm>
            <a:off x="9787855" y="3933731"/>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51" name="TextBox 16">
            <a:extLst>
              <a:ext uri="{FF2B5EF4-FFF2-40B4-BE49-F238E27FC236}">
                <a16:creationId xmlns:a16="http://schemas.microsoft.com/office/drawing/2014/main" id="{E3B5FD31-D9C2-4C90-9D7E-C16E368D4EF1}"/>
              </a:ext>
            </a:extLst>
          </p:cNvPr>
          <p:cNvSpPr txBox="1"/>
          <p:nvPr/>
        </p:nvSpPr>
        <p:spPr>
          <a:xfrm>
            <a:off x="10832133" y="5358133"/>
            <a:ext cx="6541467" cy="828112"/>
          </a:xfrm>
          <a:prstGeom prst="rect">
            <a:avLst/>
          </a:prstGeom>
        </p:spPr>
        <p:txBody>
          <a:bodyPr wrap="square" lIns="0" tIns="0" rIns="0" bIns="0" rtlCol="0" anchor="t">
            <a:spAutoFit/>
          </a:bodyPr>
          <a:lstStyle/>
          <a:p>
            <a:pPr algn="l">
              <a:lnSpc>
                <a:spcPts val="3435"/>
              </a:lnSpc>
            </a:pPr>
            <a:r>
              <a:rPr lang="en-GB" sz="2000" b="1" spc="26" dirty="0">
                <a:solidFill>
                  <a:srgbClr val="B7EE4A"/>
                </a:solidFill>
                <a:latin typeface="IBM Plex Sans Bold"/>
                <a:ea typeface="IBM Plex Sans Bold"/>
                <a:cs typeface="IBM Plex Sans Bold"/>
                <a:sym typeface="IBM Plex Sans Bold"/>
              </a:rPr>
              <a:t>Azure Computer Vision: </a:t>
            </a:r>
            <a:r>
              <a:rPr lang="en-GB" sz="2000" b="1" spc="26" dirty="0">
                <a:solidFill>
                  <a:schemeClr val="bg1"/>
                </a:solidFill>
                <a:latin typeface="IBM Plex Sans Bold"/>
                <a:ea typeface="IBM Plex Sans Bold"/>
                <a:cs typeface="IBM Plex Sans Bold"/>
                <a:sym typeface="IBM Plex Sans Bold"/>
              </a:rPr>
              <a:t>Extracts text via OCR from images and PDFs.</a:t>
            </a:r>
          </a:p>
        </p:txBody>
      </p:sp>
      <p:sp>
        <p:nvSpPr>
          <p:cNvPr id="52" name="TextBox 17">
            <a:extLst>
              <a:ext uri="{FF2B5EF4-FFF2-40B4-BE49-F238E27FC236}">
                <a16:creationId xmlns:a16="http://schemas.microsoft.com/office/drawing/2014/main" id="{B0E63FF4-8617-4BC8-84AF-1BF9E5D5880C}"/>
              </a:ext>
            </a:extLst>
          </p:cNvPr>
          <p:cNvSpPr txBox="1"/>
          <p:nvPr/>
        </p:nvSpPr>
        <p:spPr>
          <a:xfrm>
            <a:off x="9787855" y="5067300"/>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53" name="TextBox 13">
            <a:extLst>
              <a:ext uri="{FF2B5EF4-FFF2-40B4-BE49-F238E27FC236}">
                <a16:creationId xmlns:a16="http://schemas.microsoft.com/office/drawing/2014/main" id="{B13562C0-2E79-4BAA-A84A-9E1DAF11FB0E}"/>
              </a:ext>
            </a:extLst>
          </p:cNvPr>
          <p:cNvSpPr txBox="1"/>
          <p:nvPr/>
        </p:nvSpPr>
        <p:spPr>
          <a:xfrm>
            <a:off x="10832133" y="6450048"/>
            <a:ext cx="6541467"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Speech: </a:t>
            </a:r>
            <a:r>
              <a:rPr lang="en-GB" sz="2000" b="1" spc="26" dirty="0">
                <a:solidFill>
                  <a:schemeClr val="bg1"/>
                </a:solidFill>
                <a:latin typeface="IBM Plex Sans Bold"/>
                <a:ea typeface="IBM Plex Sans Bold"/>
                <a:cs typeface="IBM Plex Sans Bold"/>
                <a:sym typeface="IBM Plex Sans Bold"/>
              </a:rPr>
              <a:t>Transcribes audio evidence into searchable text.</a:t>
            </a:r>
          </a:p>
        </p:txBody>
      </p:sp>
      <p:sp>
        <p:nvSpPr>
          <p:cNvPr id="54" name="TextBox 14">
            <a:extLst>
              <a:ext uri="{FF2B5EF4-FFF2-40B4-BE49-F238E27FC236}">
                <a16:creationId xmlns:a16="http://schemas.microsoft.com/office/drawing/2014/main" id="{9805432A-D748-4808-ACFE-B5D546E2D79A}"/>
              </a:ext>
            </a:extLst>
          </p:cNvPr>
          <p:cNvSpPr txBox="1"/>
          <p:nvPr/>
        </p:nvSpPr>
        <p:spPr>
          <a:xfrm>
            <a:off x="9787855" y="6160344"/>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55" name="TextBox 13">
            <a:extLst>
              <a:ext uri="{FF2B5EF4-FFF2-40B4-BE49-F238E27FC236}">
                <a16:creationId xmlns:a16="http://schemas.microsoft.com/office/drawing/2014/main" id="{64D07F4C-E919-4E2C-9497-BB1555426811}"/>
              </a:ext>
            </a:extLst>
          </p:cNvPr>
          <p:cNvSpPr txBox="1"/>
          <p:nvPr/>
        </p:nvSpPr>
        <p:spPr>
          <a:xfrm>
            <a:off x="10832133" y="3147204"/>
            <a:ext cx="6433459"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Blob Storage: </a:t>
            </a:r>
            <a:r>
              <a:rPr lang="en-GB" sz="2000" b="1" spc="26" dirty="0">
                <a:solidFill>
                  <a:schemeClr val="bg1"/>
                </a:solidFill>
                <a:latin typeface="IBM Plex Sans Bold"/>
                <a:ea typeface="IBM Plex Sans Bold"/>
                <a:cs typeface="IBM Plex Sans Bold"/>
                <a:sym typeface="IBM Plex Sans Bold"/>
              </a:rPr>
              <a:t>Stores raw uploads and derived outputs</a:t>
            </a:r>
            <a:endParaRPr lang="fr-FR" sz="2000" b="1" spc="26" dirty="0">
              <a:solidFill>
                <a:schemeClr val="bg1"/>
              </a:solidFill>
              <a:latin typeface="IBM Plex Sans Bold"/>
              <a:ea typeface="IBM Plex Sans Bold"/>
              <a:cs typeface="IBM Plex Sans Bold"/>
              <a:sym typeface="IBM Plex Sans Bold"/>
            </a:endParaRPr>
          </a:p>
        </p:txBody>
      </p:sp>
      <p:sp>
        <p:nvSpPr>
          <p:cNvPr id="56" name="TextBox 14">
            <a:extLst>
              <a:ext uri="{FF2B5EF4-FFF2-40B4-BE49-F238E27FC236}">
                <a16:creationId xmlns:a16="http://schemas.microsoft.com/office/drawing/2014/main" id="{35988EFB-6B19-4842-B452-342AC979470F}"/>
              </a:ext>
            </a:extLst>
          </p:cNvPr>
          <p:cNvSpPr txBox="1"/>
          <p:nvPr/>
        </p:nvSpPr>
        <p:spPr>
          <a:xfrm>
            <a:off x="9787855" y="2857500"/>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
        <p:nvSpPr>
          <p:cNvPr id="57" name="TextBox 13">
            <a:extLst>
              <a:ext uri="{FF2B5EF4-FFF2-40B4-BE49-F238E27FC236}">
                <a16:creationId xmlns:a16="http://schemas.microsoft.com/office/drawing/2014/main" id="{9E3E6F28-DF53-4EAA-9B98-1B02EC3B0A55}"/>
              </a:ext>
            </a:extLst>
          </p:cNvPr>
          <p:cNvSpPr txBox="1"/>
          <p:nvPr/>
        </p:nvSpPr>
        <p:spPr>
          <a:xfrm>
            <a:off x="10832134" y="7541963"/>
            <a:ext cx="6642350" cy="828112"/>
          </a:xfrm>
          <a:prstGeom prst="rect">
            <a:avLst/>
          </a:prstGeom>
        </p:spPr>
        <p:txBody>
          <a:bodyPr wrap="square" lIns="0" tIns="0" rIns="0" bIns="0" rtlCol="0" anchor="t">
            <a:spAutoFit/>
          </a:bodyPr>
          <a:lstStyle/>
          <a:p>
            <a:pPr algn="l">
              <a:lnSpc>
                <a:spcPts val="3435"/>
              </a:lnSpc>
              <a:buClr>
                <a:srgbClr val="9CD52C"/>
              </a:buClr>
              <a:buSzPct val="400000"/>
            </a:pPr>
            <a:r>
              <a:rPr lang="en-GB" sz="2000" b="1" spc="26" dirty="0">
                <a:solidFill>
                  <a:srgbClr val="B7EE4A"/>
                </a:solidFill>
                <a:latin typeface="IBM Plex Sans Bold"/>
                <a:ea typeface="IBM Plex Sans Bold"/>
                <a:cs typeface="IBM Plex Sans Bold"/>
                <a:sym typeface="IBM Plex Sans Bold"/>
              </a:rPr>
              <a:t>Azure AI Search: </a:t>
            </a:r>
            <a:r>
              <a:rPr lang="en-GB" sz="2000" b="1" spc="26" dirty="0">
                <a:solidFill>
                  <a:schemeClr val="bg1"/>
                </a:solidFill>
                <a:latin typeface="IBM Plex Sans Bold"/>
                <a:ea typeface="IBM Plex Sans Bold"/>
                <a:cs typeface="IBM Plex Sans Bold"/>
                <a:sym typeface="IBM Plex Sans Bold"/>
              </a:rPr>
              <a:t>Indexes extracted text + tags for full-text search, filtering, and relevance ranking.</a:t>
            </a:r>
            <a:endParaRPr lang="fr-FR" sz="2000" b="1" spc="26" dirty="0">
              <a:solidFill>
                <a:schemeClr val="bg1"/>
              </a:solidFill>
              <a:latin typeface="IBM Plex Sans Bold"/>
              <a:ea typeface="IBM Plex Sans Bold"/>
              <a:cs typeface="IBM Plex Sans Bold"/>
              <a:sym typeface="IBM Plex Sans Bold"/>
            </a:endParaRPr>
          </a:p>
        </p:txBody>
      </p:sp>
      <p:sp>
        <p:nvSpPr>
          <p:cNvPr id="58" name="TextBox 14">
            <a:extLst>
              <a:ext uri="{FF2B5EF4-FFF2-40B4-BE49-F238E27FC236}">
                <a16:creationId xmlns:a16="http://schemas.microsoft.com/office/drawing/2014/main" id="{0CE3CC02-8F06-4AA3-B610-193AF0934FC5}"/>
              </a:ext>
            </a:extLst>
          </p:cNvPr>
          <p:cNvSpPr txBox="1"/>
          <p:nvPr/>
        </p:nvSpPr>
        <p:spPr>
          <a:xfrm>
            <a:off x="9787855" y="7252259"/>
            <a:ext cx="1078819" cy="791275"/>
          </a:xfrm>
          <a:prstGeom prst="rect">
            <a:avLst/>
          </a:prstGeom>
        </p:spPr>
        <p:txBody>
          <a:bodyPr lIns="0" tIns="0" rIns="0" bIns="0" rtlCol="0" anchor="t">
            <a:spAutoFit/>
          </a:bodyPr>
          <a:lstStyle/>
          <a:p>
            <a:pPr algn="ctr">
              <a:lnSpc>
                <a:spcPts val="8125"/>
              </a:lnSpc>
            </a:pPr>
            <a:r>
              <a:rPr lang="en-US" sz="5400" b="1" dirty="0">
                <a:solidFill>
                  <a:srgbClr val="9CD52C"/>
                </a:solidFill>
                <a:latin typeface="Times New Roman" panose="02020603050405020304" pitchFamily="18" charset="0"/>
                <a:ea typeface="Montserrat Ultra-Bold"/>
                <a:cs typeface="Times New Roman" panose="02020603050405020304" pitchFamily="18" charset="0"/>
                <a:sym typeface="Montserrat Ultra-Bold"/>
              </a:rPr>
              <a:t>•</a:t>
            </a:r>
            <a:endParaRPr lang="en-US" sz="5400" b="1" dirty="0">
              <a:solidFill>
                <a:srgbClr val="9CD52C"/>
              </a:solidFill>
              <a:latin typeface="Montserrat Ultra-Bold"/>
              <a:ea typeface="Montserrat Ultra-Bold"/>
              <a:cs typeface="Montserrat Ultra-Bold"/>
              <a:sym typeface="Montserrat Ultra-Bold"/>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2100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485029" y="4937999"/>
            <a:ext cx="1765817" cy="1765817"/>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sp>
      <p:sp>
        <p:nvSpPr>
          <p:cNvPr id="4" name="AutoShape 4"/>
          <p:cNvSpPr/>
          <p:nvPr/>
        </p:nvSpPr>
        <p:spPr>
          <a:xfrm flipH="1">
            <a:off x="17050226" y="9667013"/>
            <a:ext cx="1542573" cy="0"/>
          </a:xfrm>
          <a:prstGeom prst="line">
            <a:avLst/>
          </a:prstGeom>
          <a:ln w="19050" cap="flat">
            <a:solidFill>
              <a:srgbClr val="FFFFFF"/>
            </a:solidFill>
            <a:prstDash val="solid"/>
            <a:headEnd type="none" w="sm" len="sm"/>
            <a:tailEnd type="none" w="sm" len="sm"/>
          </a:ln>
        </p:spPr>
      </p:sp>
      <p:sp>
        <p:nvSpPr>
          <p:cNvPr id="5" name="Freeform 5"/>
          <p:cNvSpPr/>
          <p:nvPr/>
        </p:nvSpPr>
        <p:spPr>
          <a:xfrm>
            <a:off x="15392400" y="1743299"/>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328611">
            <a:off x="12027336" y="8560236"/>
            <a:ext cx="1407070" cy="1407070"/>
          </a:xfrm>
          <a:custGeom>
            <a:avLst/>
            <a:gdLst/>
            <a:ahLst/>
            <a:cxnLst/>
            <a:rect l="l" t="t" r="r" b="b"/>
            <a:pathLst>
              <a:path w="1407070" h="1407070">
                <a:moveTo>
                  <a:pt x="0" y="0"/>
                </a:moveTo>
                <a:lnTo>
                  <a:pt x="1407070" y="0"/>
                </a:lnTo>
                <a:lnTo>
                  <a:pt x="1407070" y="1407069"/>
                </a:lnTo>
                <a:lnTo>
                  <a:pt x="0" y="1407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028700" y="923925"/>
            <a:ext cx="16390016" cy="903004"/>
          </a:xfrm>
          <a:prstGeom prst="rect">
            <a:avLst/>
          </a:prstGeom>
        </p:spPr>
        <p:txBody>
          <a:bodyPr wrap="square" lIns="0" tIns="0" rIns="0" bIns="0" rtlCol="0" anchor="t">
            <a:spAutoFit/>
          </a:bodyPr>
          <a:lstStyle/>
          <a:p>
            <a:pPr algn="l">
              <a:lnSpc>
                <a:spcPts val="7351"/>
              </a:lnSpc>
            </a:pPr>
            <a:r>
              <a:rPr lang="en-US" sz="5400" b="1" spc="-17" dirty="0">
                <a:solidFill>
                  <a:srgbClr val="D7E5D8"/>
                </a:solidFill>
                <a:latin typeface="IBM Plex Sans Bold"/>
                <a:ea typeface="IBM Plex Sans Bold"/>
                <a:cs typeface="IBM Plex Sans Bold"/>
                <a:sym typeface="IBM Plex Sans Bold"/>
              </a:rPr>
              <a:t>Identity &amp; RBAC Model</a:t>
            </a:r>
          </a:p>
        </p:txBody>
      </p:sp>
      <p:sp>
        <p:nvSpPr>
          <p:cNvPr id="20" name="TextBox 8">
            <a:extLst>
              <a:ext uri="{FF2B5EF4-FFF2-40B4-BE49-F238E27FC236}">
                <a16:creationId xmlns:a16="http://schemas.microsoft.com/office/drawing/2014/main" id="{BE213702-896C-438B-8443-65F1041B3558}"/>
              </a:ext>
            </a:extLst>
          </p:cNvPr>
          <p:cNvSpPr txBox="1"/>
          <p:nvPr/>
        </p:nvSpPr>
        <p:spPr>
          <a:xfrm>
            <a:off x="1066800" y="1943100"/>
            <a:ext cx="13475729" cy="314189"/>
          </a:xfrm>
          <a:prstGeom prst="rect">
            <a:avLst/>
          </a:prstGeom>
        </p:spPr>
        <p:txBody>
          <a:bodyPr lIns="0" tIns="0" rIns="0" bIns="0" rtlCol="0" anchor="t">
            <a:spAutoFit/>
          </a:bodyPr>
          <a:lstStyle/>
          <a:p>
            <a:pPr algn="l">
              <a:lnSpc>
                <a:spcPts val="2699"/>
              </a:lnSpc>
            </a:pPr>
            <a:r>
              <a:rPr lang="en-GB" sz="1675" spc="-5" dirty="0">
                <a:solidFill>
                  <a:srgbClr val="D7E5D8"/>
                </a:solidFill>
                <a:latin typeface="IBM Plex Sans"/>
                <a:ea typeface="IBM Plex Sans"/>
                <a:cs typeface="IBM Plex Sans"/>
                <a:sym typeface="IBM Plex Sans"/>
              </a:rPr>
              <a:t>Authentication and Access Control — How Users Sign In and What They Can Do</a:t>
            </a:r>
            <a:endParaRPr lang="en-US" sz="1675" spc="-5" dirty="0">
              <a:solidFill>
                <a:srgbClr val="D7E5D8"/>
              </a:solidFill>
              <a:latin typeface="IBM Plex Sans"/>
              <a:ea typeface="IBM Plex Sans"/>
              <a:cs typeface="IBM Plex Sans"/>
              <a:sym typeface="IBM Plex Sans"/>
            </a:endParaRPr>
          </a:p>
        </p:txBody>
      </p:sp>
      <p:sp>
        <p:nvSpPr>
          <p:cNvPr id="50" name="TextBox 13">
            <a:extLst>
              <a:ext uri="{FF2B5EF4-FFF2-40B4-BE49-F238E27FC236}">
                <a16:creationId xmlns:a16="http://schemas.microsoft.com/office/drawing/2014/main" id="{123FF2B8-8B61-455C-A3C3-C5BA6E5BEBF5}"/>
              </a:ext>
            </a:extLst>
          </p:cNvPr>
          <p:cNvSpPr txBox="1"/>
          <p:nvPr/>
        </p:nvSpPr>
        <p:spPr>
          <a:xfrm>
            <a:off x="1840819" y="3555953"/>
            <a:ext cx="8868790" cy="392095"/>
          </a:xfrm>
          <a:prstGeom prst="rect">
            <a:avLst/>
          </a:prstGeom>
        </p:spPr>
        <p:txBody>
          <a:bodyPr wrap="square" lIns="0" tIns="0" rIns="0" bIns="0" rtlCol="0" anchor="t">
            <a:spAutoFit/>
          </a:bodyPr>
          <a:lstStyle/>
          <a:p>
            <a:pPr algn="l">
              <a:lnSpc>
                <a:spcPts val="3435"/>
              </a:lnSpc>
            </a:pPr>
            <a:r>
              <a:rPr lang="en-GB" sz="2000" b="1" spc="26" dirty="0">
                <a:solidFill>
                  <a:srgbClr val="B7EE4A"/>
                </a:solidFill>
                <a:latin typeface="IBM Plex Sans Bold"/>
                <a:ea typeface="IBM Plex Sans Bold"/>
                <a:cs typeface="IBM Plex Sans Bold"/>
                <a:sym typeface="IBM Plex Sans Bold"/>
              </a:rPr>
              <a:t>User visits DEMS (unauthenticated) → redirected to Microsoft </a:t>
            </a:r>
            <a:r>
              <a:rPr lang="en-GB" sz="2000" b="1" spc="26" dirty="0" err="1">
                <a:solidFill>
                  <a:srgbClr val="B7EE4A"/>
                </a:solidFill>
                <a:latin typeface="IBM Plex Sans Bold"/>
                <a:ea typeface="IBM Plex Sans Bold"/>
                <a:cs typeface="IBM Plex Sans Bold"/>
                <a:sym typeface="IBM Plex Sans Bold"/>
              </a:rPr>
              <a:t>Entra</a:t>
            </a:r>
            <a:r>
              <a:rPr lang="en-GB" sz="2000" b="1" spc="26" dirty="0">
                <a:solidFill>
                  <a:srgbClr val="B7EE4A"/>
                </a:solidFill>
                <a:latin typeface="IBM Plex Sans Bold"/>
                <a:ea typeface="IBM Plex Sans Bold"/>
                <a:cs typeface="IBM Plex Sans Bold"/>
                <a:sym typeface="IBM Plex Sans Bold"/>
              </a:rPr>
              <a:t> ID</a:t>
            </a:r>
            <a:endParaRPr lang="en-US" sz="2000" b="1" spc="26" dirty="0">
              <a:solidFill>
                <a:srgbClr val="B7EE4A"/>
              </a:solidFill>
              <a:latin typeface="IBM Plex Sans Bold"/>
              <a:ea typeface="IBM Plex Sans Bold"/>
              <a:cs typeface="IBM Plex Sans Bold"/>
              <a:sym typeface="IBM Plex Sans Bold"/>
            </a:endParaRPr>
          </a:p>
        </p:txBody>
      </p:sp>
      <p:sp>
        <p:nvSpPr>
          <p:cNvPr id="51" name="TextBox 14">
            <a:extLst>
              <a:ext uri="{FF2B5EF4-FFF2-40B4-BE49-F238E27FC236}">
                <a16:creationId xmlns:a16="http://schemas.microsoft.com/office/drawing/2014/main" id="{3AD5E7BB-22A3-4281-BE80-A2F18BF3F005}"/>
              </a:ext>
            </a:extLst>
          </p:cNvPr>
          <p:cNvSpPr txBox="1"/>
          <p:nvPr/>
        </p:nvSpPr>
        <p:spPr>
          <a:xfrm>
            <a:off x="777230" y="3241130"/>
            <a:ext cx="1078819" cy="941540"/>
          </a:xfrm>
          <a:prstGeom prst="rect">
            <a:avLst/>
          </a:prstGeom>
        </p:spPr>
        <p:txBody>
          <a:bodyPr lIns="0" tIns="0" rIns="0" bIns="0" rtlCol="0" anchor="t">
            <a:spAutoFit/>
          </a:bodyPr>
          <a:lstStyle/>
          <a:p>
            <a:pPr algn="l">
              <a:lnSpc>
                <a:spcPts val="8125"/>
              </a:lnSpc>
            </a:pPr>
            <a:r>
              <a:rPr lang="en-US" sz="4800" b="1" dirty="0">
                <a:solidFill>
                  <a:srgbClr val="9CD52C"/>
                </a:solidFill>
                <a:latin typeface="Montserrat Ultra-Bold"/>
                <a:ea typeface="Montserrat Ultra-Bold"/>
                <a:cs typeface="Montserrat Ultra-Bold"/>
                <a:sym typeface="Montserrat Ultra-Bold"/>
              </a:rPr>
              <a:t>01</a:t>
            </a:r>
          </a:p>
        </p:txBody>
      </p:sp>
      <p:sp>
        <p:nvSpPr>
          <p:cNvPr id="53" name="TextBox 16">
            <a:extLst>
              <a:ext uri="{FF2B5EF4-FFF2-40B4-BE49-F238E27FC236}">
                <a16:creationId xmlns:a16="http://schemas.microsoft.com/office/drawing/2014/main" id="{2BF587E3-989D-4FB4-B863-01F96B56D62E}"/>
              </a:ext>
            </a:extLst>
          </p:cNvPr>
          <p:cNvSpPr txBox="1"/>
          <p:nvPr/>
        </p:nvSpPr>
        <p:spPr>
          <a:xfrm>
            <a:off x="1856049" y="4465783"/>
            <a:ext cx="8792590" cy="392095"/>
          </a:xfrm>
          <a:prstGeom prst="rect">
            <a:avLst/>
          </a:prstGeom>
        </p:spPr>
        <p:txBody>
          <a:bodyPr wrap="square" lIns="0" tIns="0" rIns="0" bIns="0" rtlCol="0" anchor="t">
            <a:spAutoFit/>
          </a:bodyPr>
          <a:lstStyle/>
          <a:p>
            <a:pPr algn="l">
              <a:lnSpc>
                <a:spcPts val="3435"/>
              </a:lnSpc>
            </a:pPr>
            <a:r>
              <a:rPr lang="en-GB" sz="2000" b="1" spc="26" dirty="0" err="1">
                <a:solidFill>
                  <a:srgbClr val="B7EE4A"/>
                </a:solidFill>
                <a:latin typeface="IBM Plex Sans Bold"/>
                <a:ea typeface="IBM Plex Sans Bold"/>
                <a:cs typeface="IBM Plex Sans Bold"/>
                <a:sym typeface="IBM Plex Sans Bold"/>
              </a:rPr>
              <a:t>Entra</a:t>
            </a:r>
            <a:r>
              <a:rPr lang="en-GB" sz="2000" b="1" spc="26" dirty="0">
                <a:solidFill>
                  <a:srgbClr val="B7EE4A"/>
                </a:solidFill>
                <a:latin typeface="IBM Plex Sans Bold"/>
                <a:ea typeface="IBM Plex Sans Bold"/>
                <a:cs typeface="IBM Plex Sans Bold"/>
                <a:sym typeface="IBM Plex Sans Bold"/>
              </a:rPr>
              <a:t> handles login/2fa → redirected to DEMS (authenticated)</a:t>
            </a:r>
            <a:endParaRPr lang="en-US" sz="2000" b="1" spc="26" dirty="0">
              <a:solidFill>
                <a:srgbClr val="B7EE4A"/>
              </a:solidFill>
              <a:latin typeface="IBM Plex Sans Bold"/>
              <a:ea typeface="IBM Plex Sans Bold"/>
              <a:cs typeface="IBM Plex Sans Bold"/>
              <a:sym typeface="IBM Plex Sans Bold"/>
            </a:endParaRPr>
          </a:p>
        </p:txBody>
      </p:sp>
      <p:sp>
        <p:nvSpPr>
          <p:cNvPr id="54" name="TextBox 17">
            <a:extLst>
              <a:ext uri="{FF2B5EF4-FFF2-40B4-BE49-F238E27FC236}">
                <a16:creationId xmlns:a16="http://schemas.microsoft.com/office/drawing/2014/main" id="{F161CB8D-363C-4FA9-894F-3BBBFB41A0C1}"/>
              </a:ext>
            </a:extLst>
          </p:cNvPr>
          <p:cNvSpPr txBox="1"/>
          <p:nvPr/>
        </p:nvSpPr>
        <p:spPr>
          <a:xfrm>
            <a:off x="762000" y="4155530"/>
            <a:ext cx="1078819" cy="941540"/>
          </a:xfrm>
          <a:prstGeom prst="rect">
            <a:avLst/>
          </a:prstGeom>
        </p:spPr>
        <p:txBody>
          <a:bodyPr lIns="0" tIns="0" rIns="0" bIns="0" rtlCol="0" anchor="t">
            <a:spAutoFit/>
          </a:bodyPr>
          <a:lstStyle/>
          <a:p>
            <a:pPr algn="l">
              <a:lnSpc>
                <a:spcPts val="8125"/>
              </a:lnSpc>
            </a:pPr>
            <a:r>
              <a:rPr lang="en-US" sz="4800" b="1">
                <a:solidFill>
                  <a:srgbClr val="9CD52C"/>
                </a:solidFill>
                <a:latin typeface="Montserrat Ultra-Bold"/>
                <a:ea typeface="Montserrat Ultra-Bold"/>
                <a:cs typeface="Montserrat Ultra-Bold"/>
                <a:sym typeface="Montserrat Ultra-Bold"/>
              </a:rPr>
              <a:t>02</a:t>
            </a:r>
          </a:p>
        </p:txBody>
      </p:sp>
      <p:sp>
        <p:nvSpPr>
          <p:cNvPr id="62" name="TextBox 13">
            <a:extLst>
              <a:ext uri="{FF2B5EF4-FFF2-40B4-BE49-F238E27FC236}">
                <a16:creationId xmlns:a16="http://schemas.microsoft.com/office/drawing/2014/main" id="{34ED4713-D6C2-43F5-8004-B6EA6F0FA5CA}"/>
              </a:ext>
            </a:extLst>
          </p:cNvPr>
          <p:cNvSpPr txBox="1"/>
          <p:nvPr/>
        </p:nvSpPr>
        <p:spPr>
          <a:xfrm>
            <a:off x="1951610" y="6630947"/>
            <a:ext cx="11307190" cy="392095"/>
          </a:xfrm>
          <a:prstGeom prst="rect">
            <a:avLst/>
          </a:prstGeom>
        </p:spPr>
        <p:txBody>
          <a:bodyPr wrap="square" lIns="0" tIns="0" rIns="0" bIns="0" rtlCol="0" anchor="t">
            <a:spAutoFit/>
          </a:bodyPr>
          <a:lstStyle/>
          <a:p>
            <a:pPr algn="l">
              <a:lnSpc>
                <a:spcPts val="3435"/>
              </a:lnSpc>
            </a:pPr>
            <a:r>
              <a:rPr lang="en-GB" sz="2000" b="1" spc="26" dirty="0">
                <a:solidFill>
                  <a:srgbClr val="B7EE4A"/>
                </a:solidFill>
                <a:latin typeface="IBM Plex Sans Bold"/>
                <a:ea typeface="IBM Plex Sans Bold"/>
                <a:cs typeface="IBM Plex Sans Bold"/>
                <a:sym typeface="IBM Plex Sans Bold"/>
              </a:rPr>
              <a:t>Admin : </a:t>
            </a:r>
            <a:r>
              <a:rPr lang="en-GB" sz="2000" b="1" spc="26" dirty="0">
                <a:solidFill>
                  <a:schemeClr val="bg1"/>
                </a:solidFill>
                <a:latin typeface="IBM Plex Sans Bold"/>
                <a:ea typeface="IBM Plex Sans Bold"/>
                <a:cs typeface="IBM Plex Sans Bold"/>
                <a:sym typeface="IBM Plex Sans Bold"/>
              </a:rPr>
              <a:t>Manage users &amp; departments only - Zero access to cases, evidence, or search</a:t>
            </a:r>
            <a:endParaRPr lang="en-US" sz="2000" b="1" spc="26" dirty="0">
              <a:solidFill>
                <a:schemeClr val="bg1"/>
              </a:solidFill>
              <a:latin typeface="IBM Plex Sans Bold"/>
              <a:ea typeface="IBM Plex Sans Bold"/>
              <a:cs typeface="IBM Plex Sans Bold"/>
              <a:sym typeface="IBM Plex Sans Bold"/>
            </a:endParaRPr>
          </a:p>
        </p:txBody>
      </p:sp>
      <p:sp>
        <p:nvSpPr>
          <p:cNvPr id="63" name="TextBox 14">
            <a:extLst>
              <a:ext uri="{FF2B5EF4-FFF2-40B4-BE49-F238E27FC236}">
                <a16:creationId xmlns:a16="http://schemas.microsoft.com/office/drawing/2014/main" id="{8CA91B1C-A14F-41D2-BA50-CCFEB7057F12}"/>
              </a:ext>
            </a:extLst>
          </p:cNvPr>
          <p:cNvSpPr txBox="1"/>
          <p:nvPr/>
        </p:nvSpPr>
        <p:spPr>
          <a:xfrm>
            <a:off x="777230" y="6286500"/>
            <a:ext cx="1078819" cy="941540"/>
          </a:xfrm>
          <a:prstGeom prst="rect">
            <a:avLst/>
          </a:prstGeom>
        </p:spPr>
        <p:txBody>
          <a:bodyPr lIns="0" tIns="0" rIns="0" bIns="0" rtlCol="0" anchor="t">
            <a:spAutoFit/>
          </a:bodyPr>
          <a:lstStyle/>
          <a:p>
            <a:pPr algn="l">
              <a:lnSpc>
                <a:spcPts val="8125"/>
              </a:lnSpc>
            </a:pPr>
            <a:r>
              <a:rPr lang="en-US" sz="4800" b="1" dirty="0">
                <a:solidFill>
                  <a:srgbClr val="9CD52C"/>
                </a:solidFill>
                <a:latin typeface="Montserrat Ultra-Bold"/>
                <a:ea typeface="Montserrat Ultra-Bold"/>
                <a:cs typeface="Montserrat Ultra-Bold"/>
                <a:sym typeface="Montserrat Ultra-Bold"/>
              </a:rPr>
              <a:t>01</a:t>
            </a:r>
          </a:p>
        </p:txBody>
      </p:sp>
      <p:sp>
        <p:nvSpPr>
          <p:cNvPr id="65" name="TextBox 16">
            <a:extLst>
              <a:ext uri="{FF2B5EF4-FFF2-40B4-BE49-F238E27FC236}">
                <a16:creationId xmlns:a16="http://schemas.microsoft.com/office/drawing/2014/main" id="{AB3AFEFE-BDB2-4F13-9195-CA2C0311DFCA}"/>
              </a:ext>
            </a:extLst>
          </p:cNvPr>
          <p:cNvSpPr txBox="1"/>
          <p:nvPr/>
        </p:nvSpPr>
        <p:spPr>
          <a:xfrm>
            <a:off x="1951610" y="7530990"/>
            <a:ext cx="8182990" cy="392095"/>
          </a:xfrm>
          <a:prstGeom prst="rect">
            <a:avLst/>
          </a:prstGeom>
        </p:spPr>
        <p:txBody>
          <a:bodyPr wrap="square" lIns="0" tIns="0" rIns="0" bIns="0" rtlCol="0" anchor="t">
            <a:spAutoFit/>
          </a:bodyPr>
          <a:lstStyle/>
          <a:p>
            <a:pPr algn="l">
              <a:lnSpc>
                <a:spcPts val="3435"/>
              </a:lnSpc>
            </a:pPr>
            <a:r>
              <a:rPr lang="en-GB" sz="2000" b="1" spc="26" dirty="0">
                <a:solidFill>
                  <a:srgbClr val="B7EE4A"/>
                </a:solidFill>
                <a:latin typeface="IBM Plex Sans Bold"/>
                <a:ea typeface="IBM Plex Sans Bold"/>
                <a:cs typeface="IBM Plex Sans Bold"/>
                <a:sym typeface="IBM Plex Sans Bold"/>
              </a:rPr>
              <a:t>Detective : </a:t>
            </a:r>
            <a:r>
              <a:rPr lang="en-GB" sz="2000" b="1" spc="26" dirty="0">
                <a:solidFill>
                  <a:schemeClr val="bg1"/>
                </a:solidFill>
                <a:latin typeface="IBM Plex Sans Bold"/>
                <a:ea typeface="IBM Plex Sans Bold"/>
                <a:cs typeface="IBM Plex Sans Bold"/>
                <a:sym typeface="IBM Plex Sans Bold"/>
              </a:rPr>
              <a:t>Full CRUD — create, edit, delete cases and evidence</a:t>
            </a:r>
            <a:endParaRPr lang="en-US" sz="2000" b="1" spc="26" dirty="0">
              <a:solidFill>
                <a:schemeClr val="bg1"/>
              </a:solidFill>
              <a:latin typeface="IBM Plex Sans Bold"/>
              <a:ea typeface="IBM Plex Sans Bold"/>
              <a:cs typeface="IBM Plex Sans Bold"/>
              <a:sym typeface="IBM Plex Sans Bold"/>
            </a:endParaRPr>
          </a:p>
        </p:txBody>
      </p:sp>
      <p:sp>
        <p:nvSpPr>
          <p:cNvPr id="66" name="TextBox 17">
            <a:extLst>
              <a:ext uri="{FF2B5EF4-FFF2-40B4-BE49-F238E27FC236}">
                <a16:creationId xmlns:a16="http://schemas.microsoft.com/office/drawing/2014/main" id="{5C07E658-9F2F-43B7-B8F6-8CFC871109B1}"/>
              </a:ext>
            </a:extLst>
          </p:cNvPr>
          <p:cNvSpPr txBox="1"/>
          <p:nvPr/>
        </p:nvSpPr>
        <p:spPr>
          <a:xfrm>
            <a:off x="762000" y="7200900"/>
            <a:ext cx="1078819" cy="941540"/>
          </a:xfrm>
          <a:prstGeom prst="rect">
            <a:avLst/>
          </a:prstGeom>
        </p:spPr>
        <p:txBody>
          <a:bodyPr lIns="0" tIns="0" rIns="0" bIns="0" rtlCol="0" anchor="t">
            <a:spAutoFit/>
          </a:bodyPr>
          <a:lstStyle/>
          <a:p>
            <a:pPr algn="l">
              <a:lnSpc>
                <a:spcPts val="8125"/>
              </a:lnSpc>
            </a:pPr>
            <a:r>
              <a:rPr lang="en-US" sz="4800" b="1" dirty="0">
                <a:solidFill>
                  <a:srgbClr val="9CD52C"/>
                </a:solidFill>
                <a:latin typeface="Montserrat Ultra-Bold"/>
                <a:ea typeface="Montserrat Ultra-Bold"/>
                <a:cs typeface="Montserrat Ultra-Bold"/>
                <a:sym typeface="Montserrat Ultra-Bold"/>
              </a:rPr>
              <a:t>02</a:t>
            </a:r>
          </a:p>
        </p:txBody>
      </p:sp>
      <p:sp>
        <p:nvSpPr>
          <p:cNvPr id="67" name="TextBox 9">
            <a:extLst>
              <a:ext uri="{FF2B5EF4-FFF2-40B4-BE49-F238E27FC236}">
                <a16:creationId xmlns:a16="http://schemas.microsoft.com/office/drawing/2014/main" id="{C45D0272-C689-45A0-ADA6-28F6EB2CC353}"/>
              </a:ext>
            </a:extLst>
          </p:cNvPr>
          <p:cNvSpPr txBox="1"/>
          <p:nvPr/>
        </p:nvSpPr>
        <p:spPr>
          <a:xfrm>
            <a:off x="777231" y="3035339"/>
            <a:ext cx="5347546" cy="387991"/>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Sign-In Flow:</a:t>
            </a:r>
          </a:p>
        </p:txBody>
      </p:sp>
      <p:sp>
        <p:nvSpPr>
          <p:cNvPr id="68" name="TextBox 9">
            <a:extLst>
              <a:ext uri="{FF2B5EF4-FFF2-40B4-BE49-F238E27FC236}">
                <a16:creationId xmlns:a16="http://schemas.microsoft.com/office/drawing/2014/main" id="{A3D49C8B-4EC1-4497-8C82-9BFF6BC3355D}"/>
              </a:ext>
            </a:extLst>
          </p:cNvPr>
          <p:cNvSpPr txBox="1"/>
          <p:nvPr/>
        </p:nvSpPr>
        <p:spPr>
          <a:xfrm>
            <a:off x="777230" y="5998693"/>
            <a:ext cx="8792590" cy="387991"/>
          </a:xfrm>
          <a:prstGeom prst="rect">
            <a:avLst/>
          </a:prstGeom>
        </p:spPr>
        <p:txBody>
          <a:bodyPr wrap="square" lIns="0" tIns="0" rIns="0" bIns="0" rtlCol="0" anchor="t">
            <a:spAutoFit/>
          </a:bodyPr>
          <a:lstStyle/>
          <a:p>
            <a:pPr algn="l">
              <a:lnSpc>
                <a:spcPts val="3177"/>
              </a:lnSpc>
            </a:pPr>
            <a:r>
              <a:rPr lang="en-GB" sz="2464" b="1" spc="24" dirty="0">
                <a:solidFill>
                  <a:srgbClr val="B7EE4A"/>
                </a:solidFill>
                <a:latin typeface="IBM Plex Sans Bold"/>
                <a:ea typeface="IBM Plex Sans Bold"/>
                <a:cs typeface="IBM Plex Sans Bold"/>
                <a:sym typeface="IBM Plex Sans Bold"/>
              </a:rPr>
              <a:t>Roles (defined as App Roles in </a:t>
            </a:r>
            <a:r>
              <a:rPr lang="en-GB" sz="2464" b="1" spc="24" dirty="0" err="1">
                <a:solidFill>
                  <a:srgbClr val="B7EE4A"/>
                </a:solidFill>
                <a:latin typeface="IBM Plex Sans Bold"/>
                <a:ea typeface="IBM Plex Sans Bold"/>
                <a:cs typeface="IBM Plex Sans Bold"/>
                <a:sym typeface="IBM Plex Sans Bold"/>
              </a:rPr>
              <a:t>Entra</a:t>
            </a:r>
            <a:r>
              <a:rPr lang="en-GB" sz="2464" b="1" spc="24" dirty="0">
                <a:solidFill>
                  <a:srgbClr val="B7EE4A"/>
                </a:solidFill>
                <a:latin typeface="IBM Plex Sans Bold"/>
                <a:ea typeface="IBM Plex Sans Bold"/>
                <a:cs typeface="IBM Plex Sans Bold"/>
                <a:sym typeface="IBM Plex Sans Bold"/>
              </a:rPr>
              <a:t>, carried in the JWT):</a:t>
            </a:r>
            <a:endParaRPr lang="en-US" sz="2464" b="1" spc="24" dirty="0">
              <a:solidFill>
                <a:srgbClr val="B7EE4A"/>
              </a:solidFill>
              <a:latin typeface="IBM Plex Sans Bold"/>
              <a:ea typeface="IBM Plex Sans Bold"/>
              <a:cs typeface="IBM Plex Sans Bold"/>
              <a:sym typeface="IBM Plex Sans Bold"/>
            </a:endParaRPr>
          </a:p>
        </p:txBody>
      </p:sp>
      <p:sp>
        <p:nvSpPr>
          <p:cNvPr id="21" name="TextBox 16">
            <a:extLst>
              <a:ext uri="{FF2B5EF4-FFF2-40B4-BE49-F238E27FC236}">
                <a16:creationId xmlns:a16="http://schemas.microsoft.com/office/drawing/2014/main" id="{4BF81492-F075-46B6-981A-E15C1A236288}"/>
              </a:ext>
            </a:extLst>
          </p:cNvPr>
          <p:cNvSpPr txBox="1"/>
          <p:nvPr/>
        </p:nvSpPr>
        <p:spPr>
          <a:xfrm>
            <a:off x="1951610" y="8450781"/>
            <a:ext cx="10697590" cy="392095"/>
          </a:xfrm>
          <a:prstGeom prst="rect">
            <a:avLst/>
          </a:prstGeom>
        </p:spPr>
        <p:txBody>
          <a:bodyPr wrap="square" lIns="0" tIns="0" rIns="0" bIns="0" rtlCol="0" anchor="t">
            <a:spAutoFit/>
          </a:bodyPr>
          <a:lstStyle/>
          <a:p>
            <a:pPr algn="l">
              <a:lnSpc>
                <a:spcPts val="3435"/>
              </a:lnSpc>
            </a:pPr>
            <a:r>
              <a:rPr lang="en-GB" sz="2000" b="1" spc="26" dirty="0">
                <a:solidFill>
                  <a:srgbClr val="B7EE4A"/>
                </a:solidFill>
                <a:latin typeface="IBM Plex Sans Bold"/>
                <a:ea typeface="IBM Plex Sans Bold"/>
                <a:cs typeface="IBM Plex Sans Bold"/>
                <a:sym typeface="IBM Plex Sans Bold"/>
              </a:rPr>
              <a:t>Prosecutor : </a:t>
            </a:r>
            <a:r>
              <a:rPr lang="en-GB" sz="2000" b="1" spc="26" dirty="0">
                <a:solidFill>
                  <a:schemeClr val="bg1"/>
                </a:solidFill>
                <a:latin typeface="IBM Plex Sans Bold"/>
                <a:ea typeface="IBM Plex Sans Bold"/>
                <a:cs typeface="IBM Plex Sans Bold"/>
                <a:sym typeface="IBM Plex Sans Bold"/>
              </a:rPr>
              <a:t>Read-only access — view cases, evidence, search results</a:t>
            </a:r>
            <a:endParaRPr lang="en-US" sz="2000" b="1" spc="26" dirty="0">
              <a:solidFill>
                <a:schemeClr val="bg1"/>
              </a:solidFill>
              <a:latin typeface="IBM Plex Sans Bold"/>
              <a:ea typeface="IBM Plex Sans Bold"/>
              <a:cs typeface="IBM Plex Sans Bold"/>
              <a:sym typeface="IBM Plex Sans Bold"/>
            </a:endParaRPr>
          </a:p>
        </p:txBody>
      </p:sp>
      <p:sp>
        <p:nvSpPr>
          <p:cNvPr id="22" name="TextBox 17">
            <a:extLst>
              <a:ext uri="{FF2B5EF4-FFF2-40B4-BE49-F238E27FC236}">
                <a16:creationId xmlns:a16="http://schemas.microsoft.com/office/drawing/2014/main" id="{B2AB2756-333A-48A5-9F27-AD70C68358CB}"/>
              </a:ext>
            </a:extLst>
          </p:cNvPr>
          <p:cNvSpPr txBox="1"/>
          <p:nvPr/>
        </p:nvSpPr>
        <p:spPr>
          <a:xfrm>
            <a:off x="762000" y="8120691"/>
            <a:ext cx="1078819" cy="941540"/>
          </a:xfrm>
          <a:prstGeom prst="rect">
            <a:avLst/>
          </a:prstGeom>
        </p:spPr>
        <p:txBody>
          <a:bodyPr lIns="0" tIns="0" rIns="0" bIns="0" rtlCol="0" anchor="t">
            <a:spAutoFit/>
          </a:bodyPr>
          <a:lstStyle/>
          <a:p>
            <a:pPr algn="l">
              <a:lnSpc>
                <a:spcPts val="8125"/>
              </a:lnSpc>
            </a:pPr>
            <a:r>
              <a:rPr lang="en-US" sz="4800" b="1" dirty="0">
                <a:solidFill>
                  <a:srgbClr val="9CD52C"/>
                </a:solidFill>
                <a:latin typeface="Montserrat Ultra-Bold"/>
                <a:ea typeface="Montserrat Ultra-Bold"/>
                <a:cs typeface="Montserrat Ultra-Bold"/>
                <a:sym typeface="Montserrat Ultra-Bold"/>
              </a:rPr>
              <a:t>03</a:t>
            </a:r>
          </a:p>
        </p:txBody>
      </p:sp>
    </p:spTree>
    <p:extLst>
      <p:ext uri="{BB962C8B-B14F-4D97-AF65-F5344CB8AC3E}">
        <p14:creationId xmlns:p14="http://schemas.microsoft.com/office/powerpoint/2010/main" val="175126047"/>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5544800" y="2674111"/>
            <a:ext cx="2438400" cy="2548756"/>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sp>
      <p:sp>
        <p:nvSpPr>
          <p:cNvPr id="4" name="AutoShape 4"/>
          <p:cNvSpPr/>
          <p:nvPr/>
        </p:nvSpPr>
        <p:spPr>
          <a:xfrm flipH="1">
            <a:off x="17050226" y="9667013"/>
            <a:ext cx="1542573" cy="0"/>
          </a:xfrm>
          <a:prstGeom prst="line">
            <a:avLst/>
          </a:prstGeom>
          <a:ln w="19050" cap="flat">
            <a:solidFill>
              <a:srgbClr val="FFFFFF"/>
            </a:solidFill>
            <a:prstDash val="solid"/>
            <a:headEnd type="none" w="sm" len="sm"/>
            <a:tailEnd type="none" w="sm" len="sm"/>
          </a:ln>
        </p:spPr>
      </p:sp>
      <p:sp>
        <p:nvSpPr>
          <p:cNvPr id="5" name="Freeform 5"/>
          <p:cNvSpPr/>
          <p:nvPr/>
        </p:nvSpPr>
        <p:spPr>
          <a:xfrm>
            <a:off x="2667000" y="9486900"/>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328611">
            <a:off x="-477771" y="5124926"/>
            <a:ext cx="1260341" cy="1103698"/>
          </a:xfrm>
          <a:custGeom>
            <a:avLst/>
            <a:gdLst/>
            <a:ahLst/>
            <a:cxnLst/>
            <a:rect l="l" t="t" r="r" b="b"/>
            <a:pathLst>
              <a:path w="1407070" h="1407070">
                <a:moveTo>
                  <a:pt x="0" y="0"/>
                </a:moveTo>
                <a:lnTo>
                  <a:pt x="1407070" y="0"/>
                </a:lnTo>
                <a:lnTo>
                  <a:pt x="1407070" y="1407069"/>
                </a:lnTo>
                <a:lnTo>
                  <a:pt x="0" y="1407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421377" y="616837"/>
            <a:ext cx="15445245" cy="887487"/>
          </a:xfrm>
          <a:prstGeom prst="rect">
            <a:avLst/>
          </a:prstGeom>
        </p:spPr>
        <p:txBody>
          <a:bodyPr lIns="0" tIns="0" rIns="0" bIns="0" rtlCol="0" anchor="t">
            <a:spAutoFit/>
          </a:bodyPr>
          <a:lstStyle/>
          <a:p>
            <a:pPr algn="l">
              <a:lnSpc>
                <a:spcPts val="7351"/>
              </a:lnSpc>
            </a:pPr>
            <a:r>
              <a:rPr lang="en-GB" sz="5400" b="1" spc="-17" dirty="0">
                <a:solidFill>
                  <a:srgbClr val="D7E5D8"/>
                </a:solidFill>
                <a:latin typeface="IBM Plex Sans Bold"/>
                <a:ea typeface="IBM Plex Sans Bold"/>
                <a:cs typeface="IBM Plex Sans Bold"/>
                <a:sym typeface="IBM Plex Sans Bold"/>
              </a:rPr>
              <a:t>EVIDENCE UPLOAD &amp; PROCESSING PIPELINE</a:t>
            </a:r>
            <a:endParaRPr lang="en-US" sz="5400" b="1" spc="-17" dirty="0">
              <a:solidFill>
                <a:srgbClr val="D7E5D8"/>
              </a:solidFill>
              <a:latin typeface="IBM Plex Sans Bold"/>
              <a:ea typeface="IBM Plex Sans Bold"/>
              <a:cs typeface="IBM Plex Sans Bold"/>
              <a:sym typeface="IBM Plex Sans Bold"/>
            </a:endParaRPr>
          </a:p>
        </p:txBody>
      </p:sp>
      <p:sp>
        <p:nvSpPr>
          <p:cNvPr id="31" name="TextBox 30">
            <a:extLst>
              <a:ext uri="{FF2B5EF4-FFF2-40B4-BE49-F238E27FC236}">
                <a16:creationId xmlns:a16="http://schemas.microsoft.com/office/drawing/2014/main" id="{F8797165-2243-4FDA-A737-057C10A99658}"/>
              </a:ext>
            </a:extLst>
          </p:cNvPr>
          <p:cNvSpPr txBox="1"/>
          <p:nvPr/>
        </p:nvSpPr>
        <p:spPr>
          <a:xfrm>
            <a:off x="7614030" y="8760858"/>
            <a:ext cx="3059940" cy="369332"/>
          </a:xfrm>
          <a:prstGeom prst="rect">
            <a:avLst/>
          </a:prstGeom>
          <a:noFill/>
        </p:spPr>
        <p:txBody>
          <a:bodyPr wrap="none" rtlCol="0">
            <a:spAutoFit/>
          </a:bodyPr>
          <a:lstStyle/>
          <a:p>
            <a:r>
              <a:rPr lang="en-GB" dirty="0" err="1">
                <a:solidFill>
                  <a:schemeClr val="bg1"/>
                </a:solidFill>
              </a:rPr>
              <a:t>rqt_graph</a:t>
            </a:r>
            <a:r>
              <a:rPr lang="en-GB" dirty="0">
                <a:solidFill>
                  <a:schemeClr val="bg1"/>
                </a:solidFill>
              </a:rPr>
              <a:t> of nodes and topics</a:t>
            </a:r>
          </a:p>
        </p:txBody>
      </p:sp>
      <p:pic>
        <p:nvPicPr>
          <p:cNvPr id="10" name="Picture 9">
            <a:extLst>
              <a:ext uri="{FF2B5EF4-FFF2-40B4-BE49-F238E27FC236}">
                <a16:creationId xmlns:a16="http://schemas.microsoft.com/office/drawing/2014/main" id="{4578C1E5-3D84-4AE0-8161-646E8ADB59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81400" y="1866900"/>
            <a:ext cx="11125200" cy="7416800"/>
          </a:xfrm>
          <a:prstGeom prst="rect">
            <a:avLst/>
          </a:prstGeom>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2100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7145000" y="856680"/>
            <a:ext cx="1765817" cy="1765817"/>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sp>
      <p:sp>
        <p:nvSpPr>
          <p:cNvPr id="4" name="AutoShape 4"/>
          <p:cNvSpPr/>
          <p:nvPr/>
        </p:nvSpPr>
        <p:spPr>
          <a:xfrm flipH="1">
            <a:off x="17050226" y="9667013"/>
            <a:ext cx="1542573" cy="0"/>
          </a:xfrm>
          <a:prstGeom prst="line">
            <a:avLst/>
          </a:prstGeom>
          <a:ln w="19050" cap="flat">
            <a:solidFill>
              <a:srgbClr val="FFFFFF"/>
            </a:solidFill>
            <a:prstDash val="solid"/>
            <a:headEnd type="none" w="sm" len="sm"/>
            <a:tailEnd type="none" w="sm" len="sm"/>
          </a:ln>
        </p:spPr>
      </p:sp>
      <p:sp>
        <p:nvSpPr>
          <p:cNvPr id="5" name="Freeform 5"/>
          <p:cNvSpPr/>
          <p:nvPr/>
        </p:nvSpPr>
        <p:spPr>
          <a:xfrm>
            <a:off x="5479717" y="8728968"/>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328611">
            <a:off x="13170336" y="8560236"/>
            <a:ext cx="1407070" cy="1407070"/>
          </a:xfrm>
          <a:custGeom>
            <a:avLst/>
            <a:gdLst/>
            <a:ahLst/>
            <a:cxnLst/>
            <a:rect l="l" t="t" r="r" b="b"/>
            <a:pathLst>
              <a:path w="1407070" h="1407070">
                <a:moveTo>
                  <a:pt x="0" y="0"/>
                </a:moveTo>
                <a:lnTo>
                  <a:pt x="1407070" y="0"/>
                </a:lnTo>
                <a:lnTo>
                  <a:pt x="1407070" y="1407069"/>
                </a:lnTo>
                <a:lnTo>
                  <a:pt x="0" y="1407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028700" y="923925"/>
            <a:ext cx="15811500" cy="903004"/>
          </a:xfrm>
          <a:prstGeom prst="rect">
            <a:avLst/>
          </a:prstGeom>
        </p:spPr>
        <p:txBody>
          <a:bodyPr wrap="square" lIns="0" tIns="0" rIns="0" bIns="0" rtlCol="0" anchor="t">
            <a:spAutoFit/>
          </a:bodyPr>
          <a:lstStyle/>
          <a:p>
            <a:pPr marL="0" marR="0" lvl="0" indent="0" algn="l" defTabSz="914400" rtl="0" eaLnBrk="1" fontAlgn="auto" latinLnBrk="0" hangingPunct="1">
              <a:lnSpc>
                <a:spcPts val="7351"/>
              </a:lnSpc>
              <a:spcBef>
                <a:spcPts val="0"/>
              </a:spcBef>
              <a:spcAft>
                <a:spcPts val="0"/>
              </a:spcAft>
              <a:buClrTx/>
              <a:buSzTx/>
              <a:buFontTx/>
              <a:buNone/>
              <a:tabLst/>
              <a:defRPr/>
            </a:pPr>
            <a:r>
              <a:rPr kumimoji="0" lang="en-GB" sz="5876" b="1" i="0" u="none" strike="noStrike" kern="1200" cap="none" spc="-17" normalizeH="0" baseline="0" noProof="0" dirty="0">
                <a:ln>
                  <a:noFill/>
                </a:ln>
                <a:solidFill>
                  <a:srgbClr val="D7E5D8"/>
                </a:solidFill>
                <a:effectLst/>
                <a:uLnTx/>
                <a:uFillTx/>
                <a:latin typeface="IBM Plex Sans Bold"/>
                <a:ea typeface="IBM Plex Sans Bold"/>
                <a:cs typeface="IBM Plex Sans Bold"/>
                <a:sym typeface="IBM Plex Sans Bold"/>
              </a:rPr>
              <a:t>Search Experience</a:t>
            </a:r>
            <a:endParaRPr kumimoji="0" lang="en-US" sz="5876" b="1" i="0" u="none" strike="noStrike" kern="1200" cap="none" spc="-17" normalizeH="0" baseline="0" noProof="0" dirty="0">
              <a:ln>
                <a:noFill/>
              </a:ln>
              <a:solidFill>
                <a:srgbClr val="D7E5D8"/>
              </a:solidFill>
              <a:effectLst/>
              <a:uLnTx/>
              <a:uFillTx/>
              <a:latin typeface="IBM Plex Sans Bold"/>
              <a:ea typeface="IBM Plex Sans Bold"/>
              <a:cs typeface="IBM Plex Sans Bold"/>
              <a:sym typeface="IBM Plex Sans Bold"/>
            </a:endParaRPr>
          </a:p>
        </p:txBody>
      </p:sp>
      <p:sp>
        <p:nvSpPr>
          <p:cNvPr id="20" name="TextBox 13">
            <a:extLst>
              <a:ext uri="{FF2B5EF4-FFF2-40B4-BE49-F238E27FC236}">
                <a16:creationId xmlns:a16="http://schemas.microsoft.com/office/drawing/2014/main" id="{698E543A-35BA-4E24-A34F-2F6AF7BD97B5}"/>
              </a:ext>
            </a:extLst>
          </p:cNvPr>
          <p:cNvSpPr txBox="1"/>
          <p:nvPr/>
        </p:nvSpPr>
        <p:spPr>
          <a:xfrm>
            <a:off x="1730078" y="2962535"/>
            <a:ext cx="14576722" cy="3029804"/>
          </a:xfrm>
          <a:prstGeom prst="rect">
            <a:avLst/>
          </a:prstGeom>
        </p:spPr>
        <p:txBody>
          <a:bodyPr wrap="square" lIns="0" tIns="0" rIns="0" bIns="0" rtlCol="0" anchor="t">
            <a:spAutoFit/>
          </a:bodyPr>
          <a:lstStyle/>
          <a:p>
            <a:pPr marL="0" marR="0" lvl="0" indent="0" algn="l" defTabSz="914400" rtl="0" eaLnBrk="1" fontAlgn="auto" latinLnBrk="0" hangingPunct="1">
              <a:lnSpc>
                <a:spcPts val="3435"/>
              </a:lnSpc>
              <a:spcBef>
                <a:spcPts val="0"/>
              </a:spcBef>
              <a:spcAft>
                <a:spcPts val="0"/>
              </a:spcAft>
              <a:buClr>
                <a:srgbClr val="9CD52C"/>
              </a:buClr>
              <a:buSzPct val="400000"/>
              <a:buFontTx/>
              <a:buNone/>
              <a:tabLst/>
              <a:defRPr/>
            </a:pPr>
            <a:r>
              <a:rPr kumimoji="0" lang="en-GB" sz="2664" b="1" i="0" u="none" strike="noStrike" kern="1200" cap="none" spc="26" normalizeH="0" baseline="0" noProof="0" dirty="0">
                <a:ln>
                  <a:noFill/>
                </a:ln>
                <a:solidFill>
                  <a:srgbClr val="B7EE4A"/>
                </a:solidFill>
                <a:effectLst/>
                <a:uLnTx/>
                <a:uFillTx/>
                <a:latin typeface="IBM Plex Sans Bold"/>
                <a:ea typeface="IBM Plex Sans Bold"/>
                <a:cs typeface="IBM Plex Sans Bold"/>
                <a:sym typeface="IBM Plex Sans Bold"/>
              </a:rPr>
              <a:t>Azure AI Search index stores: </a:t>
            </a:r>
            <a:b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Extracted Text</a:t>
            </a:r>
            <a:br>
              <a:rPr lang="en-GB" sz="2664" b="1" spc="26" dirty="0">
                <a:solidFill>
                  <a:schemeClr val="bg1"/>
                </a:solidFill>
                <a:latin typeface="IBM Plex Sans Bold"/>
                <a:ea typeface="IBM Plex Sans Bold"/>
                <a:cs typeface="IBM Plex Sans Bold"/>
                <a:sym typeface="IBM Plex Sans Bold"/>
              </a:rPr>
            </a:br>
            <a:r>
              <a:rPr lang="en-GB" sz="2664" b="1" spc="26" dirty="0">
                <a:solidFill>
                  <a:schemeClr val="bg1"/>
                </a:solidFill>
                <a:latin typeface="IBM Plex Sans Bold"/>
                <a:ea typeface="IBM Plex Sans Bold"/>
                <a:cs typeface="IBM Plex Sans Bold"/>
                <a:sym typeface="IBM Plex Sans Bold"/>
              </a:rPr>
              <a:t>-</a:t>
            </a: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Status</a:t>
            </a:r>
            <a:b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Case</a:t>
            </a:r>
            <a:b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Department</a:t>
            </a:r>
            <a:b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Tags</a:t>
            </a:r>
            <a:b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Timestamps</a:t>
            </a:r>
            <a:endParaRPr kumimoji="0" lang="en-US"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endParaRPr>
          </a:p>
        </p:txBody>
      </p:sp>
      <p:sp>
        <p:nvSpPr>
          <p:cNvPr id="21" name="TextBox 14">
            <a:extLst>
              <a:ext uri="{FF2B5EF4-FFF2-40B4-BE49-F238E27FC236}">
                <a16:creationId xmlns:a16="http://schemas.microsoft.com/office/drawing/2014/main" id="{298B02A7-2CA3-43FD-B418-7E50292C3C48}"/>
              </a:ext>
            </a:extLst>
          </p:cNvPr>
          <p:cNvSpPr txBox="1"/>
          <p:nvPr/>
        </p:nvSpPr>
        <p:spPr>
          <a:xfrm>
            <a:off x="685800" y="2646218"/>
            <a:ext cx="1078819" cy="987970"/>
          </a:xfrm>
          <a:prstGeom prst="rect">
            <a:avLst/>
          </a:prstGeom>
        </p:spPr>
        <p:txBody>
          <a:bodyPr lIns="0" tIns="0" rIns="0" bIns="0" rtlCol="0" anchor="t">
            <a:spAutoFit/>
          </a:bodyPr>
          <a:lstStyle/>
          <a:p>
            <a:pPr marL="0" marR="0" lvl="0" indent="0" algn="ctr" defTabSz="914400" rtl="0" eaLnBrk="1" fontAlgn="auto" latinLnBrk="0" hangingPunct="1">
              <a:lnSpc>
                <a:spcPts val="8125"/>
              </a:lnSpc>
              <a:spcBef>
                <a:spcPts val="0"/>
              </a:spcBef>
              <a:spcAft>
                <a:spcPts val="0"/>
              </a:spcAft>
              <a:buClrTx/>
              <a:buSzTx/>
              <a:buFontTx/>
              <a:buNone/>
              <a:tabLst/>
              <a:defRPr/>
            </a:pPr>
            <a:r>
              <a:rPr kumimoji="0" lang="en-US" sz="5527" b="1" i="0" u="none" strike="noStrike" kern="1200" cap="none" spc="0" normalizeH="0" baseline="0" noProof="0" dirty="0">
                <a:ln>
                  <a:noFill/>
                </a:ln>
                <a:solidFill>
                  <a:srgbClr val="9CD52C"/>
                </a:solidFill>
                <a:effectLst/>
                <a:uLnTx/>
                <a:uFillTx/>
                <a:latin typeface="Times New Roman" panose="02020603050405020304" pitchFamily="18" charset="0"/>
                <a:ea typeface="Montserrat Ultra-Bold"/>
                <a:cs typeface="Times New Roman" panose="02020603050405020304" pitchFamily="18" charset="0"/>
                <a:sym typeface="Montserrat Ultra-Bold"/>
              </a:rPr>
              <a:t>•</a:t>
            </a:r>
            <a:endParaRPr kumimoji="0" lang="en-US" sz="5527" b="1" i="0" u="none" strike="noStrike" kern="1200" cap="none" spc="0" normalizeH="0" baseline="0" noProof="0" dirty="0">
              <a:ln>
                <a:noFill/>
              </a:ln>
              <a:solidFill>
                <a:srgbClr val="9CD52C"/>
              </a:solidFill>
              <a:effectLst/>
              <a:uLnTx/>
              <a:uFillTx/>
              <a:latin typeface="Montserrat Ultra-Bold"/>
              <a:ea typeface="Montserrat Ultra-Bold"/>
              <a:cs typeface="Montserrat Ultra-Bold"/>
              <a:sym typeface="Montserrat Ultra-Bold"/>
            </a:endParaRPr>
          </a:p>
        </p:txBody>
      </p:sp>
      <p:sp>
        <p:nvSpPr>
          <p:cNvPr id="23" name="TextBox 16">
            <a:extLst>
              <a:ext uri="{FF2B5EF4-FFF2-40B4-BE49-F238E27FC236}">
                <a16:creationId xmlns:a16="http://schemas.microsoft.com/office/drawing/2014/main" id="{50CE38BF-6A54-4E7B-8E0D-230E90EFA1E5}"/>
              </a:ext>
            </a:extLst>
          </p:cNvPr>
          <p:cNvSpPr txBox="1"/>
          <p:nvPr/>
        </p:nvSpPr>
        <p:spPr>
          <a:xfrm>
            <a:off x="1730078" y="6453047"/>
            <a:ext cx="14576722" cy="1285737"/>
          </a:xfrm>
          <a:prstGeom prst="rect">
            <a:avLst/>
          </a:prstGeom>
        </p:spPr>
        <p:txBody>
          <a:bodyPr wrap="square" lIns="0" tIns="0" rIns="0" bIns="0" rtlCol="0" anchor="t">
            <a:spAutoFit/>
          </a:bodyPr>
          <a:lstStyle/>
          <a:p>
            <a:pPr marL="0" marR="0" lvl="0" indent="0" algn="l" defTabSz="914400" rtl="0" eaLnBrk="1" fontAlgn="auto" latinLnBrk="0" hangingPunct="1">
              <a:lnSpc>
                <a:spcPts val="3435"/>
              </a:lnSpc>
              <a:spcBef>
                <a:spcPts val="0"/>
              </a:spcBef>
              <a:spcAft>
                <a:spcPts val="0"/>
              </a:spcAft>
              <a:buClrTx/>
              <a:buSzTx/>
              <a:buFontTx/>
              <a:buNone/>
              <a:tabLst/>
              <a:defRPr/>
            </a:pPr>
            <a:r>
              <a:rPr kumimoji="0" lang="en-GB" sz="2664" b="1" i="0" u="none" strike="noStrike" kern="1200" cap="none" spc="26" normalizeH="0" baseline="0" noProof="0" dirty="0">
                <a:ln>
                  <a:noFill/>
                </a:ln>
                <a:solidFill>
                  <a:srgbClr val="B7EE4A"/>
                </a:solidFill>
                <a:effectLst/>
                <a:uLnTx/>
                <a:uFillTx/>
                <a:latin typeface="IBM Plex Sans Bold"/>
                <a:ea typeface="IBM Plex Sans Bold"/>
                <a:cs typeface="IBM Plex Sans Bold"/>
                <a:sym typeface="IBM Plex Sans Bold"/>
              </a:rPr>
              <a:t>Search API supports:</a:t>
            </a:r>
            <a:br>
              <a:rPr kumimoji="0" lang="en-GB" sz="2664" b="1" i="0" u="none" strike="noStrike" kern="1200" cap="none" spc="26" normalizeH="0" baseline="0" noProof="0" dirty="0">
                <a:ln>
                  <a:noFill/>
                </a:ln>
                <a:solidFill>
                  <a:srgbClr val="B7EE4A"/>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Full-text query </a:t>
            </a:r>
            <a:b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br>
            <a:r>
              <a:rPr kumimoji="0" lang="en-GB"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rPr>
              <a:t>- Filters (case, department, status, tag)</a:t>
            </a:r>
            <a:endParaRPr kumimoji="0" lang="en-US" sz="2664" b="1" i="0" u="none" strike="noStrike" kern="1200" cap="none" spc="26" normalizeH="0" baseline="0" noProof="0" dirty="0">
              <a:ln>
                <a:noFill/>
              </a:ln>
              <a:solidFill>
                <a:schemeClr val="bg1"/>
              </a:solidFill>
              <a:effectLst/>
              <a:uLnTx/>
              <a:uFillTx/>
              <a:latin typeface="IBM Plex Sans Bold"/>
              <a:ea typeface="IBM Plex Sans Bold"/>
              <a:cs typeface="IBM Plex Sans Bold"/>
              <a:sym typeface="IBM Plex Sans Bold"/>
            </a:endParaRPr>
          </a:p>
        </p:txBody>
      </p:sp>
      <p:sp>
        <p:nvSpPr>
          <p:cNvPr id="24" name="TextBox 17">
            <a:extLst>
              <a:ext uri="{FF2B5EF4-FFF2-40B4-BE49-F238E27FC236}">
                <a16:creationId xmlns:a16="http://schemas.microsoft.com/office/drawing/2014/main" id="{0983A482-98EC-4212-9E23-CD3E0E422E09}"/>
              </a:ext>
            </a:extLst>
          </p:cNvPr>
          <p:cNvSpPr txBox="1"/>
          <p:nvPr/>
        </p:nvSpPr>
        <p:spPr>
          <a:xfrm>
            <a:off x="685800" y="6136730"/>
            <a:ext cx="1078819" cy="987970"/>
          </a:xfrm>
          <a:prstGeom prst="rect">
            <a:avLst/>
          </a:prstGeom>
        </p:spPr>
        <p:txBody>
          <a:bodyPr lIns="0" tIns="0" rIns="0" bIns="0" rtlCol="0" anchor="t">
            <a:spAutoFit/>
          </a:bodyPr>
          <a:lstStyle/>
          <a:p>
            <a:pPr marL="0" marR="0" lvl="0" indent="0" algn="ctr" defTabSz="914400" rtl="0" eaLnBrk="1" fontAlgn="auto" latinLnBrk="0" hangingPunct="1">
              <a:lnSpc>
                <a:spcPts val="8125"/>
              </a:lnSpc>
              <a:spcBef>
                <a:spcPts val="0"/>
              </a:spcBef>
              <a:spcAft>
                <a:spcPts val="0"/>
              </a:spcAft>
              <a:buClrTx/>
              <a:buSzTx/>
              <a:buFontTx/>
              <a:buNone/>
              <a:tabLst/>
              <a:defRPr/>
            </a:pPr>
            <a:r>
              <a:rPr kumimoji="0" lang="en-US" sz="5527" b="1" i="0" u="none" strike="noStrike" kern="1200" cap="none" spc="0" normalizeH="0" baseline="0" noProof="0" dirty="0">
                <a:ln>
                  <a:noFill/>
                </a:ln>
                <a:solidFill>
                  <a:srgbClr val="9CD52C"/>
                </a:solidFill>
                <a:effectLst/>
                <a:uLnTx/>
                <a:uFillTx/>
                <a:latin typeface="Times New Roman" panose="02020603050405020304" pitchFamily="18" charset="0"/>
                <a:ea typeface="Montserrat Ultra-Bold"/>
                <a:cs typeface="Times New Roman" panose="02020603050405020304" pitchFamily="18" charset="0"/>
                <a:sym typeface="Montserrat Ultra-Bold"/>
              </a:rPr>
              <a:t>•</a:t>
            </a:r>
            <a:endParaRPr kumimoji="0" lang="en-US" sz="5527" b="1" i="0" u="none" strike="noStrike" kern="1200" cap="none" spc="0" normalizeH="0" baseline="0" noProof="0" dirty="0">
              <a:ln>
                <a:noFill/>
              </a:ln>
              <a:solidFill>
                <a:srgbClr val="9CD52C"/>
              </a:solidFill>
              <a:effectLst/>
              <a:uLnTx/>
              <a:uFillTx/>
              <a:latin typeface="Montserrat Ultra-Bold"/>
              <a:ea typeface="Montserrat Ultra-Bold"/>
              <a:cs typeface="Montserrat Ultra-Bold"/>
              <a:sym typeface="Montserrat Ultra-Bold"/>
            </a:endParaRPr>
          </a:p>
        </p:txBody>
      </p:sp>
    </p:spTree>
    <p:extLst>
      <p:ext uri="{BB962C8B-B14F-4D97-AF65-F5344CB8AC3E}">
        <p14:creationId xmlns:p14="http://schemas.microsoft.com/office/powerpoint/2010/main" val="1409280574"/>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6499636" y="-1088238"/>
            <a:ext cx="2872606" cy="2872606"/>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AutoShape 3"/>
          <p:cNvSpPr/>
          <p:nvPr/>
        </p:nvSpPr>
        <p:spPr>
          <a:xfrm flipH="1">
            <a:off x="0" y="9676538"/>
            <a:ext cx="16463090" cy="0"/>
          </a:xfrm>
          <a:prstGeom prst="line">
            <a:avLst/>
          </a:prstGeom>
          <a:ln w="19050" cap="flat">
            <a:solidFill>
              <a:srgbClr val="FFFFFF"/>
            </a:solidFill>
            <a:prstDash val="solid"/>
            <a:headEnd type="none" w="sm" len="sm"/>
            <a:tailEnd type="none" w="sm" len="sm"/>
          </a:ln>
        </p:spPr>
      </p:sp>
      <p:sp>
        <p:nvSpPr>
          <p:cNvPr id="4" name="AutoShape 4"/>
          <p:cNvSpPr/>
          <p:nvPr/>
        </p:nvSpPr>
        <p:spPr>
          <a:xfrm flipH="1">
            <a:off x="17050226" y="9667013"/>
            <a:ext cx="1542573" cy="0"/>
          </a:xfrm>
          <a:prstGeom prst="line">
            <a:avLst/>
          </a:prstGeom>
          <a:ln w="19050" cap="flat">
            <a:solidFill>
              <a:srgbClr val="FFFFFF"/>
            </a:solidFill>
            <a:prstDash val="solid"/>
            <a:headEnd type="none" w="sm" len="sm"/>
            <a:tailEnd type="none" w="sm" len="sm"/>
          </a:ln>
        </p:spPr>
      </p:sp>
      <p:sp>
        <p:nvSpPr>
          <p:cNvPr id="5" name="Freeform 5"/>
          <p:cNvSpPr/>
          <p:nvPr/>
        </p:nvSpPr>
        <p:spPr>
          <a:xfrm>
            <a:off x="301274" y="6515100"/>
            <a:ext cx="634107" cy="634107"/>
          </a:xfrm>
          <a:custGeom>
            <a:avLst/>
            <a:gdLst/>
            <a:ahLst/>
            <a:cxnLst/>
            <a:rect l="l" t="t" r="r" b="b"/>
            <a:pathLst>
              <a:path w="634107" h="634107">
                <a:moveTo>
                  <a:pt x="0" y="0"/>
                </a:moveTo>
                <a:lnTo>
                  <a:pt x="634107" y="0"/>
                </a:lnTo>
                <a:lnTo>
                  <a:pt x="634107" y="634107"/>
                </a:lnTo>
                <a:lnTo>
                  <a:pt x="0" y="6341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328611">
            <a:off x="13398936" y="1306578"/>
            <a:ext cx="1407070" cy="1407070"/>
          </a:xfrm>
          <a:custGeom>
            <a:avLst/>
            <a:gdLst/>
            <a:ahLst/>
            <a:cxnLst/>
            <a:rect l="l" t="t" r="r" b="b"/>
            <a:pathLst>
              <a:path w="1407070" h="1407070">
                <a:moveTo>
                  <a:pt x="0" y="0"/>
                </a:moveTo>
                <a:lnTo>
                  <a:pt x="1407070" y="0"/>
                </a:lnTo>
                <a:lnTo>
                  <a:pt x="1407070" y="1407069"/>
                </a:lnTo>
                <a:lnTo>
                  <a:pt x="0" y="1407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028700" y="923925"/>
            <a:ext cx="15445245" cy="908655"/>
          </a:xfrm>
          <a:prstGeom prst="rect">
            <a:avLst/>
          </a:prstGeom>
        </p:spPr>
        <p:txBody>
          <a:bodyPr lIns="0" tIns="0" rIns="0" bIns="0" rtlCol="0" anchor="t">
            <a:spAutoFit/>
          </a:bodyPr>
          <a:lstStyle/>
          <a:p>
            <a:pPr algn="l">
              <a:lnSpc>
                <a:spcPts val="7351"/>
              </a:lnSpc>
            </a:pPr>
            <a:r>
              <a:rPr lang="en-GB" sz="5876" b="1" spc="-17" dirty="0">
                <a:solidFill>
                  <a:srgbClr val="D7E5D8"/>
                </a:solidFill>
                <a:latin typeface="IBM Plex Sans Bold"/>
                <a:ea typeface="IBM Plex Sans Bold"/>
                <a:cs typeface="IBM Plex Sans Bold"/>
                <a:sym typeface="IBM Plex Sans Bold"/>
              </a:rPr>
              <a:t>CI/CD and Operations</a:t>
            </a:r>
            <a:endParaRPr lang="en-US" sz="5876" b="1" spc="-17" dirty="0">
              <a:solidFill>
                <a:srgbClr val="D7E5D8"/>
              </a:solidFill>
              <a:latin typeface="IBM Plex Sans Bold"/>
              <a:ea typeface="IBM Plex Sans Bold"/>
              <a:cs typeface="IBM Plex Sans Bold"/>
              <a:sym typeface="IBM Plex Sans Bold"/>
            </a:endParaRPr>
          </a:p>
        </p:txBody>
      </p:sp>
      <p:sp>
        <p:nvSpPr>
          <p:cNvPr id="16" name="TextBox 8">
            <a:extLst>
              <a:ext uri="{FF2B5EF4-FFF2-40B4-BE49-F238E27FC236}">
                <a16:creationId xmlns:a16="http://schemas.microsoft.com/office/drawing/2014/main" id="{B46638FE-57CC-4405-A200-EFB3B455ECA6}"/>
              </a:ext>
            </a:extLst>
          </p:cNvPr>
          <p:cNvSpPr txBox="1"/>
          <p:nvPr/>
        </p:nvSpPr>
        <p:spPr>
          <a:xfrm>
            <a:off x="1066800" y="1943100"/>
            <a:ext cx="13475729" cy="314189"/>
          </a:xfrm>
          <a:prstGeom prst="rect">
            <a:avLst/>
          </a:prstGeom>
        </p:spPr>
        <p:txBody>
          <a:bodyPr lIns="0" tIns="0" rIns="0" bIns="0" rtlCol="0" anchor="t">
            <a:spAutoFit/>
          </a:bodyPr>
          <a:lstStyle/>
          <a:p>
            <a:pPr algn="l">
              <a:lnSpc>
                <a:spcPts val="2699"/>
              </a:lnSpc>
            </a:pPr>
            <a:r>
              <a:rPr lang="en-GB" sz="1675" spc="-5" dirty="0">
                <a:solidFill>
                  <a:srgbClr val="D7E5D8"/>
                </a:solidFill>
                <a:latin typeface="IBM Plex Sans"/>
                <a:ea typeface="IBM Plex Sans"/>
                <a:cs typeface="IBM Plex Sans"/>
                <a:sym typeface="IBM Plex Sans"/>
              </a:rPr>
              <a:t>Automated Deployment with GitHub Actions</a:t>
            </a:r>
            <a:endParaRPr lang="en-US" sz="1675" spc="-5" dirty="0">
              <a:solidFill>
                <a:srgbClr val="D7E5D8"/>
              </a:solidFill>
              <a:latin typeface="IBM Plex Sans"/>
              <a:ea typeface="IBM Plex Sans"/>
              <a:cs typeface="IBM Plex Sans"/>
              <a:sym typeface="IBM Plex Sans"/>
            </a:endParaRPr>
          </a:p>
        </p:txBody>
      </p:sp>
      <p:sp>
        <p:nvSpPr>
          <p:cNvPr id="26" name="TextBox 13">
            <a:extLst>
              <a:ext uri="{FF2B5EF4-FFF2-40B4-BE49-F238E27FC236}">
                <a16:creationId xmlns:a16="http://schemas.microsoft.com/office/drawing/2014/main" id="{349BAC85-AEA5-4A38-BB2D-5B4A3AC3587D}"/>
              </a:ext>
            </a:extLst>
          </p:cNvPr>
          <p:cNvSpPr txBox="1"/>
          <p:nvPr/>
        </p:nvSpPr>
        <p:spPr>
          <a:xfrm>
            <a:off x="2864684" y="3709892"/>
            <a:ext cx="5974515" cy="413703"/>
          </a:xfrm>
          <a:prstGeom prst="rect">
            <a:avLst/>
          </a:prstGeom>
        </p:spPr>
        <p:txBody>
          <a:bodyPr wrap="square" lIns="0" tIns="0" rIns="0" bIns="0" rtlCol="0" anchor="t">
            <a:spAutoFit/>
          </a:bodyPr>
          <a:lstStyle/>
          <a:p>
            <a:pPr algn="l">
              <a:lnSpc>
                <a:spcPts val="3435"/>
              </a:lnSpc>
            </a:pPr>
            <a:r>
              <a:rPr lang="en-GB" sz="2664" b="1" spc="26" dirty="0">
                <a:solidFill>
                  <a:srgbClr val="B7EE4A"/>
                </a:solidFill>
                <a:latin typeface="IBM Plex Sans Bold"/>
                <a:ea typeface="IBM Plex Sans Bold"/>
                <a:cs typeface="IBM Plex Sans Bold"/>
                <a:sym typeface="IBM Plex Sans Bold"/>
              </a:rPr>
              <a:t>Checkout repository</a:t>
            </a:r>
            <a:endParaRPr lang="en-US" sz="2664" b="1" spc="26" dirty="0">
              <a:solidFill>
                <a:srgbClr val="B7EE4A"/>
              </a:solidFill>
              <a:latin typeface="IBM Plex Sans Bold"/>
              <a:ea typeface="IBM Plex Sans Bold"/>
              <a:cs typeface="IBM Plex Sans Bold"/>
              <a:sym typeface="IBM Plex Sans Bold"/>
            </a:endParaRPr>
          </a:p>
        </p:txBody>
      </p:sp>
      <p:sp>
        <p:nvSpPr>
          <p:cNvPr id="29" name="TextBox 14">
            <a:extLst>
              <a:ext uri="{FF2B5EF4-FFF2-40B4-BE49-F238E27FC236}">
                <a16:creationId xmlns:a16="http://schemas.microsoft.com/office/drawing/2014/main" id="{B55791F8-3839-42B7-A799-E97B636C226D}"/>
              </a:ext>
            </a:extLst>
          </p:cNvPr>
          <p:cNvSpPr txBox="1"/>
          <p:nvPr/>
        </p:nvSpPr>
        <p:spPr>
          <a:xfrm>
            <a:off x="1690304" y="3449167"/>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01</a:t>
            </a:r>
          </a:p>
        </p:txBody>
      </p:sp>
      <p:sp>
        <p:nvSpPr>
          <p:cNvPr id="32" name="TextBox 16">
            <a:extLst>
              <a:ext uri="{FF2B5EF4-FFF2-40B4-BE49-F238E27FC236}">
                <a16:creationId xmlns:a16="http://schemas.microsoft.com/office/drawing/2014/main" id="{B389DA99-8F4C-45BF-A205-5B53B49A9294}"/>
              </a:ext>
            </a:extLst>
          </p:cNvPr>
          <p:cNvSpPr txBox="1"/>
          <p:nvPr/>
        </p:nvSpPr>
        <p:spPr>
          <a:xfrm>
            <a:off x="2864684" y="5152929"/>
            <a:ext cx="5299651" cy="849720"/>
          </a:xfrm>
          <a:prstGeom prst="rect">
            <a:avLst/>
          </a:prstGeom>
        </p:spPr>
        <p:txBody>
          <a:bodyPr wrap="square" lIns="0" tIns="0" rIns="0" bIns="0" rtlCol="0" anchor="t">
            <a:spAutoFit/>
          </a:bodyPr>
          <a:lstStyle/>
          <a:p>
            <a:pPr algn="l">
              <a:lnSpc>
                <a:spcPts val="3435"/>
              </a:lnSpc>
            </a:pPr>
            <a:r>
              <a:rPr lang="en-GB" sz="2664" b="1" spc="26" dirty="0">
                <a:solidFill>
                  <a:srgbClr val="B7EE4A"/>
                </a:solidFill>
                <a:latin typeface="IBM Plex Sans Bold"/>
                <a:ea typeface="IBM Plex Sans Bold"/>
                <a:cs typeface="IBM Plex Sans Bold"/>
                <a:sym typeface="IBM Plex Sans Bold"/>
              </a:rPr>
              <a:t>Inject secrets from GitHub Secrets into build environment</a:t>
            </a:r>
            <a:endParaRPr lang="en-US" sz="2664" b="1" spc="26" dirty="0">
              <a:solidFill>
                <a:srgbClr val="B7EE4A"/>
              </a:solidFill>
              <a:latin typeface="IBM Plex Sans Bold"/>
              <a:ea typeface="IBM Plex Sans Bold"/>
              <a:cs typeface="IBM Plex Sans Bold"/>
              <a:sym typeface="IBM Plex Sans Bold"/>
            </a:endParaRPr>
          </a:p>
        </p:txBody>
      </p:sp>
      <p:sp>
        <p:nvSpPr>
          <p:cNvPr id="34" name="TextBox 17">
            <a:extLst>
              <a:ext uri="{FF2B5EF4-FFF2-40B4-BE49-F238E27FC236}">
                <a16:creationId xmlns:a16="http://schemas.microsoft.com/office/drawing/2014/main" id="{5C7DCAA5-87AD-49CD-B11A-E96AAF8E3E69}"/>
              </a:ext>
            </a:extLst>
          </p:cNvPr>
          <p:cNvSpPr txBox="1"/>
          <p:nvPr/>
        </p:nvSpPr>
        <p:spPr>
          <a:xfrm>
            <a:off x="1675074" y="4892204"/>
            <a:ext cx="1078819" cy="987970"/>
          </a:xfrm>
          <a:prstGeom prst="rect">
            <a:avLst/>
          </a:prstGeom>
        </p:spPr>
        <p:txBody>
          <a:bodyPr lIns="0" tIns="0" rIns="0" bIns="0" rtlCol="0" anchor="t">
            <a:spAutoFit/>
          </a:bodyPr>
          <a:lstStyle/>
          <a:p>
            <a:pPr algn="l">
              <a:lnSpc>
                <a:spcPts val="8125"/>
              </a:lnSpc>
            </a:pPr>
            <a:r>
              <a:rPr lang="en-US" sz="5527" b="1">
                <a:solidFill>
                  <a:srgbClr val="9CD52C"/>
                </a:solidFill>
                <a:latin typeface="Montserrat Ultra-Bold"/>
                <a:ea typeface="Montserrat Ultra-Bold"/>
                <a:cs typeface="Montserrat Ultra-Bold"/>
                <a:sym typeface="Montserrat Ultra-Bold"/>
              </a:rPr>
              <a:t>02</a:t>
            </a:r>
          </a:p>
        </p:txBody>
      </p:sp>
      <p:sp>
        <p:nvSpPr>
          <p:cNvPr id="36" name="TextBox 19">
            <a:extLst>
              <a:ext uri="{FF2B5EF4-FFF2-40B4-BE49-F238E27FC236}">
                <a16:creationId xmlns:a16="http://schemas.microsoft.com/office/drawing/2014/main" id="{0AAAB1C0-EB19-480A-AEB3-B978093634D2}"/>
              </a:ext>
            </a:extLst>
          </p:cNvPr>
          <p:cNvSpPr txBox="1"/>
          <p:nvPr/>
        </p:nvSpPr>
        <p:spPr>
          <a:xfrm>
            <a:off x="2849456" y="6610362"/>
            <a:ext cx="5643545" cy="849720"/>
          </a:xfrm>
          <a:prstGeom prst="rect">
            <a:avLst/>
          </a:prstGeom>
        </p:spPr>
        <p:txBody>
          <a:bodyPr wrap="square" lIns="0" tIns="0" rIns="0" bIns="0" rtlCol="0" anchor="t">
            <a:spAutoFit/>
          </a:bodyPr>
          <a:lstStyle/>
          <a:p>
            <a:pPr algn="l">
              <a:lnSpc>
                <a:spcPts val="3435"/>
              </a:lnSpc>
            </a:pPr>
            <a:r>
              <a:rPr lang="en-GB" sz="2664" b="1" spc="26" dirty="0" err="1">
                <a:solidFill>
                  <a:srgbClr val="B7EE4A"/>
                </a:solidFill>
                <a:latin typeface="IBM Plex Sans Bold"/>
                <a:ea typeface="IBM Plex Sans Bold"/>
                <a:cs typeface="IBM Plex Sans Bold"/>
                <a:sym typeface="IBM Plex Sans Bold"/>
              </a:rPr>
              <a:t>npm</a:t>
            </a:r>
            <a:r>
              <a:rPr lang="en-GB" sz="2664" b="1" spc="26" dirty="0">
                <a:solidFill>
                  <a:srgbClr val="B7EE4A"/>
                </a:solidFill>
                <a:latin typeface="IBM Plex Sans Bold"/>
                <a:ea typeface="IBM Plex Sans Bold"/>
                <a:cs typeface="IBM Plex Sans Bold"/>
                <a:sym typeface="IBM Plex Sans Bold"/>
              </a:rPr>
              <a:t> install + </a:t>
            </a:r>
            <a:r>
              <a:rPr lang="en-GB" sz="2664" b="1" spc="26" dirty="0" err="1">
                <a:solidFill>
                  <a:srgbClr val="B7EE4A"/>
                </a:solidFill>
                <a:latin typeface="IBM Plex Sans Bold"/>
                <a:ea typeface="IBM Plex Sans Bold"/>
                <a:cs typeface="IBM Plex Sans Bold"/>
                <a:sym typeface="IBM Plex Sans Bold"/>
              </a:rPr>
              <a:t>npm</a:t>
            </a:r>
            <a:r>
              <a:rPr lang="en-GB" sz="2664" b="1" spc="26" dirty="0">
                <a:solidFill>
                  <a:srgbClr val="B7EE4A"/>
                </a:solidFill>
                <a:latin typeface="IBM Plex Sans Bold"/>
                <a:ea typeface="IBM Plex Sans Bold"/>
                <a:cs typeface="IBM Plex Sans Bold"/>
                <a:sym typeface="IBM Plex Sans Bold"/>
              </a:rPr>
              <a:t> run build inside ./frontend</a:t>
            </a:r>
            <a:endParaRPr lang="en-US" sz="2664" b="1" spc="26" dirty="0">
              <a:solidFill>
                <a:srgbClr val="B7EE4A"/>
              </a:solidFill>
              <a:latin typeface="IBM Plex Sans Bold"/>
              <a:ea typeface="IBM Plex Sans Bold"/>
              <a:cs typeface="IBM Plex Sans Bold"/>
              <a:sym typeface="IBM Plex Sans Bold"/>
            </a:endParaRPr>
          </a:p>
        </p:txBody>
      </p:sp>
      <p:sp>
        <p:nvSpPr>
          <p:cNvPr id="37" name="TextBox 20">
            <a:extLst>
              <a:ext uri="{FF2B5EF4-FFF2-40B4-BE49-F238E27FC236}">
                <a16:creationId xmlns:a16="http://schemas.microsoft.com/office/drawing/2014/main" id="{CBE94BA2-2B43-445F-9737-5A98D61695A2}"/>
              </a:ext>
            </a:extLst>
          </p:cNvPr>
          <p:cNvSpPr txBox="1"/>
          <p:nvPr/>
        </p:nvSpPr>
        <p:spPr>
          <a:xfrm>
            <a:off x="1675075" y="6349637"/>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03</a:t>
            </a:r>
          </a:p>
        </p:txBody>
      </p:sp>
      <p:sp>
        <p:nvSpPr>
          <p:cNvPr id="39" name="TextBox 19">
            <a:extLst>
              <a:ext uri="{FF2B5EF4-FFF2-40B4-BE49-F238E27FC236}">
                <a16:creationId xmlns:a16="http://schemas.microsoft.com/office/drawing/2014/main" id="{D016830A-4FA6-4121-BF18-5BFB4FDB678D}"/>
              </a:ext>
            </a:extLst>
          </p:cNvPr>
          <p:cNvSpPr txBox="1"/>
          <p:nvPr/>
        </p:nvSpPr>
        <p:spPr>
          <a:xfrm>
            <a:off x="2864686" y="8067795"/>
            <a:ext cx="5602197" cy="849720"/>
          </a:xfrm>
          <a:prstGeom prst="rect">
            <a:avLst/>
          </a:prstGeom>
        </p:spPr>
        <p:txBody>
          <a:bodyPr wrap="square" lIns="0" tIns="0" rIns="0" bIns="0" rtlCol="0" anchor="t">
            <a:spAutoFit/>
          </a:bodyPr>
          <a:lstStyle/>
          <a:p>
            <a:pPr algn="l">
              <a:lnSpc>
                <a:spcPts val="3435"/>
              </a:lnSpc>
            </a:pPr>
            <a:r>
              <a:rPr lang="en-GB" sz="2664" b="1" spc="26" dirty="0">
                <a:solidFill>
                  <a:srgbClr val="B7EE4A"/>
                </a:solidFill>
                <a:latin typeface="IBM Plex Sans Bold"/>
                <a:ea typeface="IBM Plex Sans Bold"/>
                <a:cs typeface="IBM Plex Sans Bold"/>
                <a:sym typeface="IBM Plex Sans Bold"/>
              </a:rPr>
              <a:t>Deploy build/ output to Azure Static Web Apps</a:t>
            </a:r>
            <a:endParaRPr lang="en-US" sz="2664" b="1" spc="26" dirty="0">
              <a:solidFill>
                <a:srgbClr val="B7EE4A"/>
              </a:solidFill>
              <a:latin typeface="IBM Plex Sans Bold"/>
              <a:ea typeface="IBM Plex Sans Bold"/>
              <a:cs typeface="IBM Plex Sans Bold"/>
              <a:sym typeface="IBM Plex Sans Bold"/>
            </a:endParaRPr>
          </a:p>
        </p:txBody>
      </p:sp>
      <p:sp>
        <p:nvSpPr>
          <p:cNvPr id="40" name="TextBox 20">
            <a:extLst>
              <a:ext uri="{FF2B5EF4-FFF2-40B4-BE49-F238E27FC236}">
                <a16:creationId xmlns:a16="http://schemas.microsoft.com/office/drawing/2014/main" id="{79DC34D3-7603-4A92-A301-D066A1502A97}"/>
              </a:ext>
            </a:extLst>
          </p:cNvPr>
          <p:cNvSpPr txBox="1"/>
          <p:nvPr/>
        </p:nvSpPr>
        <p:spPr>
          <a:xfrm>
            <a:off x="1690305" y="7807070"/>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04</a:t>
            </a:r>
          </a:p>
        </p:txBody>
      </p:sp>
      <p:sp>
        <p:nvSpPr>
          <p:cNvPr id="41" name="TextBox 13">
            <a:extLst>
              <a:ext uri="{FF2B5EF4-FFF2-40B4-BE49-F238E27FC236}">
                <a16:creationId xmlns:a16="http://schemas.microsoft.com/office/drawing/2014/main" id="{07A4CACD-8E94-4039-B0C4-2EE9EEBA6735}"/>
              </a:ext>
            </a:extLst>
          </p:cNvPr>
          <p:cNvSpPr txBox="1"/>
          <p:nvPr/>
        </p:nvSpPr>
        <p:spPr>
          <a:xfrm>
            <a:off x="10995497" y="3709892"/>
            <a:ext cx="6454303" cy="413703"/>
          </a:xfrm>
          <a:prstGeom prst="rect">
            <a:avLst/>
          </a:prstGeom>
        </p:spPr>
        <p:txBody>
          <a:bodyPr wrap="square" lIns="0" tIns="0" rIns="0" bIns="0" rtlCol="0" anchor="t">
            <a:spAutoFit/>
          </a:bodyPr>
          <a:lstStyle/>
          <a:p>
            <a:pPr algn="l">
              <a:lnSpc>
                <a:spcPts val="3435"/>
              </a:lnSpc>
            </a:pPr>
            <a:r>
              <a:rPr lang="en-GB" sz="2664" b="1" spc="26" dirty="0">
                <a:solidFill>
                  <a:srgbClr val="B7EE4A"/>
                </a:solidFill>
                <a:latin typeface="IBM Plex Sans Bold"/>
                <a:ea typeface="IBM Plex Sans Bold"/>
                <a:cs typeface="IBM Plex Sans Bold"/>
                <a:sym typeface="IBM Plex Sans Bold"/>
              </a:rPr>
              <a:t>Checkout repository</a:t>
            </a:r>
            <a:endParaRPr lang="en-US" sz="2664" b="1" spc="26" dirty="0">
              <a:solidFill>
                <a:srgbClr val="B7EE4A"/>
              </a:solidFill>
              <a:latin typeface="IBM Plex Sans Bold"/>
              <a:ea typeface="IBM Plex Sans Bold"/>
              <a:cs typeface="IBM Plex Sans Bold"/>
              <a:sym typeface="IBM Plex Sans Bold"/>
            </a:endParaRPr>
          </a:p>
        </p:txBody>
      </p:sp>
      <p:sp>
        <p:nvSpPr>
          <p:cNvPr id="42" name="TextBox 14">
            <a:extLst>
              <a:ext uri="{FF2B5EF4-FFF2-40B4-BE49-F238E27FC236}">
                <a16:creationId xmlns:a16="http://schemas.microsoft.com/office/drawing/2014/main" id="{0EB7B7E1-B85B-47A5-A874-2EBFDA5B1B9D}"/>
              </a:ext>
            </a:extLst>
          </p:cNvPr>
          <p:cNvSpPr txBox="1"/>
          <p:nvPr/>
        </p:nvSpPr>
        <p:spPr>
          <a:xfrm>
            <a:off x="9821117" y="3449167"/>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05</a:t>
            </a:r>
          </a:p>
        </p:txBody>
      </p:sp>
      <p:sp>
        <p:nvSpPr>
          <p:cNvPr id="43" name="TextBox 16">
            <a:extLst>
              <a:ext uri="{FF2B5EF4-FFF2-40B4-BE49-F238E27FC236}">
                <a16:creationId xmlns:a16="http://schemas.microsoft.com/office/drawing/2014/main" id="{1260BE78-963D-4386-A58F-9A8816CC93C4}"/>
              </a:ext>
            </a:extLst>
          </p:cNvPr>
          <p:cNvSpPr txBox="1"/>
          <p:nvPr/>
        </p:nvSpPr>
        <p:spPr>
          <a:xfrm>
            <a:off x="10995497" y="5152929"/>
            <a:ext cx="6225703" cy="849720"/>
          </a:xfrm>
          <a:prstGeom prst="rect">
            <a:avLst/>
          </a:prstGeom>
        </p:spPr>
        <p:txBody>
          <a:bodyPr wrap="square" lIns="0" tIns="0" rIns="0" bIns="0" rtlCol="0" anchor="t">
            <a:spAutoFit/>
          </a:bodyPr>
          <a:lstStyle/>
          <a:p>
            <a:pPr algn="l">
              <a:lnSpc>
                <a:spcPts val="3435"/>
              </a:lnSpc>
            </a:pPr>
            <a:r>
              <a:rPr lang="en-GB" sz="2664" b="1" spc="26" dirty="0" err="1">
                <a:solidFill>
                  <a:srgbClr val="B7EE4A"/>
                </a:solidFill>
                <a:latin typeface="IBM Plex Sans Bold"/>
                <a:ea typeface="IBM Plex Sans Bold"/>
                <a:cs typeface="IBM Plex Sans Bold"/>
                <a:sym typeface="IBM Plex Sans Bold"/>
              </a:rPr>
              <a:t>npm</a:t>
            </a:r>
            <a:r>
              <a:rPr lang="en-GB" sz="2664" b="1" spc="26" dirty="0">
                <a:solidFill>
                  <a:srgbClr val="B7EE4A"/>
                </a:solidFill>
                <a:latin typeface="IBM Plex Sans Bold"/>
                <a:ea typeface="IBM Plex Sans Bold"/>
                <a:cs typeface="IBM Plex Sans Bold"/>
                <a:sym typeface="IBM Plex Sans Bold"/>
              </a:rPr>
              <a:t> install + </a:t>
            </a:r>
            <a:r>
              <a:rPr lang="en-GB" sz="2664" b="1" spc="26" dirty="0" err="1">
                <a:solidFill>
                  <a:srgbClr val="B7EE4A"/>
                </a:solidFill>
                <a:latin typeface="IBM Plex Sans Bold"/>
                <a:ea typeface="IBM Plex Sans Bold"/>
                <a:cs typeface="IBM Plex Sans Bold"/>
                <a:sym typeface="IBM Plex Sans Bold"/>
              </a:rPr>
              <a:t>npm</a:t>
            </a:r>
            <a:r>
              <a:rPr lang="en-GB" sz="2664" b="1" spc="26" dirty="0">
                <a:solidFill>
                  <a:srgbClr val="B7EE4A"/>
                </a:solidFill>
                <a:latin typeface="IBM Plex Sans Bold"/>
                <a:ea typeface="IBM Plex Sans Bold"/>
                <a:cs typeface="IBM Plex Sans Bold"/>
                <a:sym typeface="IBM Plex Sans Bold"/>
              </a:rPr>
              <a:t> run build (TypeScript → </a:t>
            </a:r>
            <a:r>
              <a:rPr lang="en-GB" sz="2664" b="1" spc="26" dirty="0" err="1">
                <a:solidFill>
                  <a:srgbClr val="B7EE4A"/>
                </a:solidFill>
                <a:latin typeface="IBM Plex Sans Bold"/>
                <a:ea typeface="IBM Plex Sans Bold"/>
                <a:cs typeface="IBM Plex Sans Bold"/>
                <a:sym typeface="IBM Plex Sans Bold"/>
              </a:rPr>
              <a:t>dist</a:t>
            </a:r>
            <a:r>
              <a:rPr lang="en-GB" sz="2664" b="1" spc="26" dirty="0">
                <a:solidFill>
                  <a:srgbClr val="B7EE4A"/>
                </a:solidFill>
                <a:latin typeface="IBM Plex Sans Bold"/>
                <a:ea typeface="IBM Plex Sans Bold"/>
                <a:cs typeface="IBM Plex Sans Bold"/>
                <a:sym typeface="IBM Plex Sans Bold"/>
              </a:rPr>
              <a:t>/)</a:t>
            </a:r>
            <a:endParaRPr lang="en-US" sz="2664" b="1" spc="26" dirty="0">
              <a:solidFill>
                <a:srgbClr val="B7EE4A"/>
              </a:solidFill>
              <a:latin typeface="IBM Plex Sans Bold"/>
              <a:ea typeface="IBM Plex Sans Bold"/>
              <a:cs typeface="IBM Plex Sans Bold"/>
              <a:sym typeface="IBM Plex Sans Bold"/>
            </a:endParaRPr>
          </a:p>
        </p:txBody>
      </p:sp>
      <p:sp>
        <p:nvSpPr>
          <p:cNvPr id="44" name="TextBox 17">
            <a:extLst>
              <a:ext uri="{FF2B5EF4-FFF2-40B4-BE49-F238E27FC236}">
                <a16:creationId xmlns:a16="http://schemas.microsoft.com/office/drawing/2014/main" id="{52C0ECB8-93D8-4695-84A0-A5210AB99CCF}"/>
              </a:ext>
            </a:extLst>
          </p:cNvPr>
          <p:cNvSpPr txBox="1"/>
          <p:nvPr/>
        </p:nvSpPr>
        <p:spPr>
          <a:xfrm>
            <a:off x="9805887" y="4892204"/>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06</a:t>
            </a:r>
          </a:p>
        </p:txBody>
      </p:sp>
      <p:sp>
        <p:nvSpPr>
          <p:cNvPr id="45" name="TextBox 19">
            <a:extLst>
              <a:ext uri="{FF2B5EF4-FFF2-40B4-BE49-F238E27FC236}">
                <a16:creationId xmlns:a16="http://schemas.microsoft.com/office/drawing/2014/main" id="{7051BB30-C226-45CF-B3FA-605CFABEACA5}"/>
              </a:ext>
            </a:extLst>
          </p:cNvPr>
          <p:cNvSpPr txBox="1"/>
          <p:nvPr/>
        </p:nvSpPr>
        <p:spPr>
          <a:xfrm>
            <a:off x="10980269" y="6610362"/>
            <a:ext cx="6698131" cy="849720"/>
          </a:xfrm>
          <a:prstGeom prst="rect">
            <a:avLst/>
          </a:prstGeom>
        </p:spPr>
        <p:txBody>
          <a:bodyPr wrap="square" lIns="0" tIns="0" rIns="0" bIns="0" rtlCol="0" anchor="t">
            <a:spAutoFit/>
          </a:bodyPr>
          <a:lstStyle/>
          <a:p>
            <a:pPr algn="l">
              <a:lnSpc>
                <a:spcPts val="3435"/>
              </a:lnSpc>
            </a:pPr>
            <a:r>
              <a:rPr lang="en-GB" sz="2664" b="1" spc="26" dirty="0">
                <a:solidFill>
                  <a:srgbClr val="B7EE4A"/>
                </a:solidFill>
                <a:latin typeface="IBM Plex Sans Bold"/>
                <a:ea typeface="IBM Plex Sans Bold"/>
                <a:cs typeface="IBM Plex Sans Bold"/>
                <a:sym typeface="IBM Plex Sans Bold"/>
              </a:rPr>
              <a:t>Login to Azure via OIDC (Federated Credential — no client secret in GitHub)</a:t>
            </a:r>
            <a:endParaRPr lang="en-US" sz="2664" b="1" spc="26" dirty="0">
              <a:solidFill>
                <a:srgbClr val="B7EE4A"/>
              </a:solidFill>
              <a:latin typeface="IBM Plex Sans Bold"/>
              <a:ea typeface="IBM Plex Sans Bold"/>
              <a:cs typeface="IBM Plex Sans Bold"/>
              <a:sym typeface="IBM Plex Sans Bold"/>
            </a:endParaRPr>
          </a:p>
        </p:txBody>
      </p:sp>
      <p:sp>
        <p:nvSpPr>
          <p:cNvPr id="46" name="TextBox 20">
            <a:extLst>
              <a:ext uri="{FF2B5EF4-FFF2-40B4-BE49-F238E27FC236}">
                <a16:creationId xmlns:a16="http://schemas.microsoft.com/office/drawing/2014/main" id="{9424A66B-B77A-4405-B998-5BB5256F6C39}"/>
              </a:ext>
            </a:extLst>
          </p:cNvPr>
          <p:cNvSpPr txBox="1"/>
          <p:nvPr/>
        </p:nvSpPr>
        <p:spPr>
          <a:xfrm>
            <a:off x="9805888" y="6349637"/>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07</a:t>
            </a:r>
          </a:p>
        </p:txBody>
      </p:sp>
      <p:sp>
        <p:nvSpPr>
          <p:cNvPr id="47" name="TextBox 19">
            <a:extLst>
              <a:ext uri="{FF2B5EF4-FFF2-40B4-BE49-F238E27FC236}">
                <a16:creationId xmlns:a16="http://schemas.microsoft.com/office/drawing/2014/main" id="{E80F5FFC-5425-4394-A332-99D9F997E660}"/>
              </a:ext>
            </a:extLst>
          </p:cNvPr>
          <p:cNvSpPr txBox="1"/>
          <p:nvPr/>
        </p:nvSpPr>
        <p:spPr>
          <a:xfrm>
            <a:off x="10995499" y="8067795"/>
            <a:ext cx="6054727" cy="849720"/>
          </a:xfrm>
          <a:prstGeom prst="rect">
            <a:avLst/>
          </a:prstGeom>
        </p:spPr>
        <p:txBody>
          <a:bodyPr wrap="square" lIns="0" tIns="0" rIns="0" bIns="0" rtlCol="0" anchor="t">
            <a:spAutoFit/>
          </a:bodyPr>
          <a:lstStyle/>
          <a:p>
            <a:pPr algn="l">
              <a:lnSpc>
                <a:spcPts val="3435"/>
              </a:lnSpc>
            </a:pPr>
            <a:r>
              <a:rPr lang="en-GB" sz="2664" b="1" spc="26" dirty="0">
                <a:solidFill>
                  <a:srgbClr val="B7EE4A"/>
                </a:solidFill>
                <a:latin typeface="IBM Plex Sans Bold"/>
                <a:ea typeface="IBM Plex Sans Bold"/>
                <a:cs typeface="IBM Plex Sans Bold"/>
                <a:sym typeface="IBM Plex Sans Bold"/>
              </a:rPr>
              <a:t>Deploy to func-dems1 Production slot via Azure Functions Action</a:t>
            </a:r>
            <a:endParaRPr lang="en-US" sz="2664" b="1" spc="26" dirty="0">
              <a:solidFill>
                <a:srgbClr val="B7EE4A"/>
              </a:solidFill>
              <a:latin typeface="IBM Plex Sans Bold"/>
              <a:ea typeface="IBM Plex Sans Bold"/>
              <a:cs typeface="IBM Plex Sans Bold"/>
              <a:sym typeface="IBM Plex Sans Bold"/>
            </a:endParaRPr>
          </a:p>
        </p:txBody>
      </p:sp>
      <p:sp>
        <p:nvSpPr>
          <p:cNvPr id="48" name="TextBox 20">
            <a:extLst>
              <a:ext uri="{FF2B5EF4-FFF2-40B4-BE49-F238E27FC236}">
                <a16:creationId xmlns:a16="http://schemas.microsoft.com/office/drawing/2014/main" id="{FE17037D-7C94-41B1-A88F-64D45876BE34}"/>
              </a:ext>
            </a:extLst>
          </p:cNvPr>
          <p:cNvSpPr txBox="1"/>
          <p:nvPr/>
        </p:nvSpPr>
        <p:spPr>
          <a:xfrm>
            <a:off x="9821118" y="7807070"/>
            <a:ext cx="1078819" cy="987970"/>
          </a:xfrm>
          <a:prstGeom prst="rect">
            <a:avLst/>
          </a:prstGeom>
        </p:spPr>
        <p:txBody>
          <a:bodyPr lIns="0" tIns="0" rIns="0" bIns="0" rtlCol="0" anchor="t">
            <a:spAutoFit/>
          </a:bodyPr>
          <a:lstStyle/>
          <a:p>
            <a:pPr algn="l">
              <a:lnSpc>
                <a:spcPts val="8125"/>
              </a:lnSpc>
            </a:pPr>
            <a:r>
              <a:rPr lang="en-US" sz="5527" b="1" dirty="0">
                <a:solidFill>
                  <a:srgbClr val="9CD52C"/>
                </a:solidFill>
                <a:latin typeface="Montserrat Ultra-Bold"/>
                <a:ea typeface="Montserrat Ultra-Bold"/>
                <a:cs typeface="Montserrat Ultra-Bold"/>
                <a:sym typeface="Montserrat Ultra-Bold"/>
              </a:rPr>
              <a:t>08</a:t>
            </a:r>
          </a:p>
        </p:txBody>
      </p:sp>
      <p:sp>
        <p:nvSpPr>
          <p:cNvPr id="25" name="TextBox 9">
            <a:extLst>
              <a:ext uri="{FF2B5EF4-FFF2-40B4-BE49-F238E27FC236}">
                <a16:creationId xmlns:a16="http://schemas.microsoft.com/office/drawing/2014/main" id="{E0FEC6EA-FBB9-464A-A09C-A68955CFEBCE}"/>
              </a:ext>
            </a:extLst>
          </p:cNvPr>
          <p:cNvSpPr txBox="1"/>
          <p:nvPr/>
        </p:nvSpPr>
        <p:spPr>
          <a:xfrm>
            <a:off x="1690304" y="2992760"/>
            <a:ext cx="5347546" cy="387991"/>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Frontend:</a:t>
            </a:r>
          </a:p>
        </p:txBody>
      </p:sp>
      <p:sp>
        <p:nvSpPr>
          <p:cNvPr id="27" name="TextBox 9">
            <a:extLst>
              <a:ext uri="{FF2B5EF4-FFF2-40B4-BE49-F238E27FC236}">
                <a16:creationId xmlns:a16="http://schemas.microsoft.com/office/drawing/2014/main" id="{7870E7BC-718A-4840-B89B-3EDCFE07ECC6}"/>
              </a:ext>
            </a:extLst>
          </p:cNvPr>
          <p:cNvSpPr txBox="1"/>
          <p:nvPr/>
        </p:nvSpPr>
        <p:spPr>
          <a:xfrm>
            <a:off x="9805887" y="2991273"/>
            <a:ext cx="5347546" cy="387991"/>
          </a:xfrm>
          <a:prstGeom prst="rect">
            <a:avLst/>
          </a:prstGeom>
        </p:spPr>
        <p:txBody>
          <a:bodyPr lIns="0" tIns="0" rIns="0" bIns="0" rtlCol="0" anchor="t">
            <a:spAutoFit/>
          </a:bodyPr>
          <a:lstStyle/>
          <a:p>
            <a:pPr algn="l">
              <a:lnSpc>
                <a:spcPts val="3177"/>
              </a:lnSpc>
            </a:pPr>
            <a:r>
              <a:rPr lang="en-US" sz="2464" b="1" spc="24" dirty="0">
                <a:solidFill>
                  <a:srgbClr val="B7EE4A"/>
                </a:solidFill>
                <a:latin typeface="IBM Plex Sans Bold"/>
                <a:ea typeface="IBM Plex Sans Bold"/>
                <a:cs typeface="IBM Plex Sans Bold"/>
                <a:sym typeface="IBM Plex Sans Bold"/>
              </a:rPr>
              <a:t>Backend:</a:t>
            </a:r>
          </a:p>
        </p:txBody>
      </p:sp>
    </p:spTree>
    <p:extLst>
      <p:ext uri="{BB962C8B-B14F-4D97-AF65-F5344CB8AC3E}">
        <p14:creationId xmlns:p14="http://schemas.microsoft.com/office/powerpoint/2010/main" val="896530142"/>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14604">
                <a:alpha val="100000"/>
              </a:srgbClr>
            </a:gs>
            <a:gs pos="100000">
              <a:srgbClr val="010811">
                <a:alpha val="100000"/>
              </a:srgbClr>
            </a:gs>
          </a:gsLst>
          <a:lin ang="5400000"/>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FECC1BB-1701-4A7E-9DD8-11EBD72B7A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8846" y="1121523"/>
            <a:ext cx="12065927" cy="8043951"/>
          </a:xfrm>
          <a:prstGeom prst="rect">
            <a:avLst/>
          </a:prstGeom>
        </p:spPr>
      </p:pic>
      <p:sp>
        <p:nvSpPr>
          <p:cNvPr id="4" name="Freeform 4"/>
          <p:cNvSpPr/>
          <p:nvPr/>
        </p:nvSpPr>
        <p:spPr>
          <a:xfrm>
            <a:off x="4038600" y="6747801"/>
            <a:ext cx="2275867" cy="2275867"/>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AutoShape 5"/>
          <p:cNvSpPr/>
          <p:nvPr/>
        </p:nvSpPr>
        <p:spPr>
          <a:xfrm flipH="1">
            <a:off x="0" y="9676538"/>
            <a:ext cx="17674808" cy="0"/>
          </a:xfrm>
          <a:prstGeom prst="line">
            <a:avLst/>
          </a:prstGeom>
          <a:ln w="19050" cap="flat">
            <a:solidFill>
              <a:srgbClr val="FFFFFF"/>
            </a:solidFill>
            <a:prstDash val="solid"/>
            <a:headEnd type="none" w="sm" len="sm"/>
            <a:tailEnd type="none" w="sm" len="sm"/>
          </a:ln>
        </p:spPr>
      </p:sp>
      <p:sp>
        <p:nvSpPr>
          <p:cNvPr id="7" name="Freeform 7"/>
          <p:cNvSpPr/>
          <p:nvPr/>
        </p:nvSpPr>
        <p:spPr>
          <a:xfrm>
            <a:off x="10363200" y="-589788"/>
            <a:ext cx="7315200" cy="2075688"/>
          </a:xfrm>
          <a:custGeom>
            <a:avLst/>
            <a:gdLst/>
            <a:ahLst/>
            <a:cxnLst/>
            <a:rect l="l" t="t" r="r" b="b"/>
            <a:pathLst>
              <a:path w="7315200" h="2075688">
                <a:moveTo>
                  <a:pt x="0" y="0"/>
                </a:moveTo>
                <a:lnTo>
                  <a:pt x="7315200" y="0"/>
                </a:lnTo>
                <a:lnTo>
                  <a:pt x="7315200" y="2075688"/>
                </a:lnTo>
                <a:lnTo>
                  <a:pt x="0" y="20756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5548790" y="3025729"/>
            <a:ext cx="10011659" cy="903004"/>
          </a:xfrm>
          <a:prstGeom prst="rect">
            <a:avLst/>
          </a:prstGeom>
        </p:spPr>
        <p:txBody>
          <a:bodyPr lIns="0" tIns="0" rIns="0" bIns="0" rtlCol="0" anchor="t">
            <a:spAutoFit/>
          </a:bodyPr>
          <a:lstStyle/>
          <a:p>
            <a:pPr marL="0" marR="0" lvl="0" indent="0" algn="l" defTabSz="914400" rtl="0" eaLnBrk="1" fontAlgn="auto" latinLnBrk="0" hangingPunct="1">
              <a:lnSpc>
                <a:spcPts val="7351"/>
              </a:lnSpc>
              <a:spcBef>
                <a:spcPts val="0"/>
              </a:spcBef>
              <a:spcAft>
                <a:spcPts val="0"/>
              </a:spcAft>
              <a:buClrTx/>
              <a:buSzTx/>
              <a:buFontTx/>
              <a:buNone/>
              <a:tabLst/>
              <a:defRPr/>
            </a:pPr>
            <a:r>
              <a:rPr kumimoji="0" lang="en-US" sz="5876" b="1" i="0" u="none" strike="noStrike" kern="1200" cap="none" spc="-17" normalizeH="0" baseline="0" noProof="0" dirty="0">
                <a:ln>
                  <a:noFill/>
                </a:ln>
                <a:solidFill>
                  <a:srgbClr val="B7EE4A"/>
                </a:solidFill>
                <a:effectLst/>
                <a:uLnTx/>
                <a:uFillTx/>
                <a:latin typeface="IBM Plex Sans Bold"/>
                <a:ea typeface="IBM Plex Sans Bold"/>
                <a:cs typeface="IBM Plex Sans Bold"/>
                <a:sym typeface="IBM Plex Sans Bold"/>
              </a:rPr>
              <a:t>Thank You — Demo Time</a:t>
            </a:r>
          </a:p>
        </p:txBody>
      </p:sp>
      <p:sp>
        <p:nvSpPr>
          <p:cNvPr id="9" name="TextBox 9"/>
          <p:cNvSpPr txBox="1"/>
          <p:nvPr/>
        </p:nvSpPr>
        <p:spPr>
          <a:xfrm>
            <a:off x="5548790" y="5521964"/>
            <a:ext cx="8849634" cy="1186607"/>
          </a:xfrm>
          <a:prstGeom prst="rect">
            <a:avLst/>
          </a:prstGeom>
        </p:spPr>
        <p:txBody>
          <a:bodyPr lIns="0" tIns="0" rIns="0" bIns="0"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1778" b="0" i="1" u="none" strike="noStrike" kern="1200" cap="none" spc="-5" normalizeH="0" baseline="0" noProof="0" dirty="0">
                <a:ln>
                  <a:noFill/>
                </a:ln>
                <a:solidFill>
                  <a:srgbClr val="D7E5D8"/>
                </a:solidFill>
                <a:effectLst/>
                <a:uLnTx/>
                <a:uFillTx/>
                <a:latin typeface="IBM Plex Sans"/>
                <a:ea typeface="IBM Plex Sans"/>
                <a:cs typeface="IBM Plex Sans"/>
                <a:sym typeface="IBM Plex Sans"/>
              </a:rPr>
              <a:t>Fun fact: Before searchable transcripts, investigators sometimes had to listen to recordings at 2× speed for hours — now AI does it in seconds, and it doesn’t even need coffee. </a:t>
            </a:r>
            <a:endParaRPr kumimoji="0" lang="en-US" sz="1778" b="0" i="1" u="none" strike="noStrike" kern="1200" cap="none" spc="-5" normalizeH="0" baseline="0" noProof="0" dirty="0">
              <a:ln>
                <a:noFill/>
              </a:ln>
              <a:solidFill>
                <a:srgbClr val="D7E5D8"/>
              </a:solidFill>
              <a:effectLst/>
              <a:uLnTx/>
              <a:uFillTx/>
              <a:latin typeface="IBM Plex Sans"/>
              <a:ea typeface="IBM Plex Sans"/>
              <a:cs typeface="IBM Plex Sans"/>
              <a:sym typeface="IBM Plex Sans"/>
            </a:endParaRPr>
          </a:p>
        </p:txBody>
      </p:sp>
      <p:sp>
        <p:nvSpPr>
          <p:cNvPr id="10" name="AutoShape 19">
            <a:extLst>
              <a:ext uri="{FF2B5EF4-FFF2-40B4-BE49-F238E27FC236}">
                <a16:creationId xmlns:a16="http://schemas.microsoft.com/office/drawing/2014/main" id="{98578871-A6D5-4ADD-BBD1-C6171D51BE21}"/>
              </a:ext>
            </a:extLst>
          </p:cNvPr>
          <p:cNvSpPr/>
          <p:nvPr/>
        </p:nvSpPr>
        <p:spPr>
          <a:xfrm flipH="1" flipV="1">
            <a:off x="17674808" y="-1"/>
            <a:ext cx="0" cy="9667013"/>
          </a:xfrm>
          <a:prstGeom prst="line">
            <a:avLst/>
          </a:prstGeom>
          <a:ln w="19050" cap="flat">
            <a:solidFill>
              <a:srgbClr val="FFFFFF"/>
            </a:solidFill>
            <a:prstDash val="solid"/>
            <a:headEnd type="none" w="sm" len="sm"/>
            <a:tailEnd type="none" w="sm" len="sm"/>
          </a:ln>
        </p:spPr>
      </p:sp>
      <p:sp>
        <p:nvSpPr>
          <p:cNvPr id="11" name="Freeform 4">
            <a:extLst>
              <a:ext uri="{FF2B5EF4-FFF2-40B4-BE49-F238E27FC236}">
                <a16:creationId xmlns:a16="http://schemas.microsoft.com/office/drawing/2014/main" id="{1CDE2904-6EC5-4D91-8510-949113E6445F}"/>
              </a:ext>
            </a:extLst>
          </p:cNvPr>
          <p:cNvSpPr/>
          <p:nvPr/>
        </p:nvSpPr>
        <p:spPr>
          <a:xfrm>
            <a:off x="8325263" y="8195812"/>
            <a:ext cx="1600200" cy="1600200"/>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4">
            <a:extLst>
              <a:ext uri="{FF2B5EF4-FFF2-40B4-BE49-F238E27FC236}">
                <a16:creationId xmlns:a16="http://schemas.microsoft.com/office/drawing/2014/main" id="{019B3013-AA69-4802-ABEE-F909806F5628}"/>
              </a:ext>
            </a:extLst>
          </p:cNvPr>
          <p:cNvSpPr/>
          <p:nvPr/>
        </p:nvSpPr>
        <p:spPr>
          <a:xfrm>
            <a:off x="17221200" y="9258300"/>
            <a:ext cx="1308448" cy="1308448"/>
          </a:xfrm>
          <a:custGeom>
            <a:avLst/>
            <a:gdLst/>
            <a:ahLst/>
            <a:cxnLst/>
            <a:rect l="l" t="t" r="r" b="b"/>
            <a:pathLst>
              <a:path w="3710806" h="3710806">
                <a:moveTo>
                  <a:pt x="0" y="0"/>
                </a:moveTo>
                <a:lnTo>
                  <a:pt x="3710806" y="0"/>
                </a:lnTo>
                <a:lnTo>
                  <a:pt x="3710806" y="3710807"/>
                </a:lnTo>
                <a:lnTo>
                  <a:pt x="0" y="37108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13" name="Graphic 12" descr="Coffee with solid fill">
            <a:extLst>
              <a:ext uri="{FF2B5EF4-FFF2-40B4-BE49-F238E27FC236}">
                <a16:creationId xmlns:a16="http://schemas.microsoft.com/office/drawing/2014/main" id="{93BD0D3A-12DA-4A60-883B-5A4997D8A74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12904" y="6323531"/>
            <a:ext cx="496369" cy="496369"/>
          </a:xfrm>
          <a:prstGeom prst="rect">
            <a:avLst/>
          </a:prstGeom>
        </p:spPr>
      </p:pic>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5806</TotalTime>
  <Words>1124</Words>
  <Application>Microsoft Office PowerPoint</Application>
  <PresentationFormat>Custom</PresentationFormat>
  <Paragraphs>111</Paragraphs>
  <Slides>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ElsevierSans</vt:lpstr>
      <vt:lpstr>Google Sans</vt:lpstr>
      <vt:lpstr>IBM Plex Sans</vt:lpstr>
      <vt:lpstr>IBM Plex Sans Bold</vt:lpstr>
      <vt:lpstr>Montserrat Ultra-Bold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Dark Photo-centric Machine Learning Presentation</dc:title>
  <cp:lastModifiedBy>Nima Mehranfar</cp:lastModifiedBy>
  <cp:revision>122</cp:revision>
  <dcterms:created xsi:type="dcterms:W3CDTF">2006-08-16T00:00:00Z</dcterms:created>
  <dcterms:modified xsi:type="dcterms:W3CDTF">2026-02-20T01:12:47Z</dcterms:modified>
  <dc:identifier>DAGoRVk5Z4Y</dc:identifier>
</cp:coreProperties>
</file>